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page is a working document, not a game record. This deck reads it as an artifact.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the honest frame immediately: this is a notebook of method, not a game.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State the gaps up front so the rest of the deck is trusted.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labelled hinge of the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Arrows are the motif that recurs most on the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Cover vs vision — held ground vs reach.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margin key proves a systematic notation, not doodling.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3-vs-4 bit note on the page is a real result, not a stray number.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legible ideas and one honest unknown.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Pivot from reading the notebook to executing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payoff of the whole abstraction ladder.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Flag clearly that this is not the user’s game.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Ties the search engine back to the page’s territorial framing.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Concrete ask, three options.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gap between the computed border and the felt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1E18"/>
        </a:solidFill>
      </p:bgPr>
    </p:bg>
    <p:spTree>
      <p:nvGrpSpPr>
        <p:cNvPr id="1" name=""/>
        <p:cNvGrpSpPr/>
        <p:nvPr/>
      </p:nvGrpSpPr>
      <p:grpSpPr>
        <a:xfrm>
          <a:off x="0" y="0"/>
          <a:ext cx="0" cy="0"/>
          <a:chOff x="0" y="0"/>
          <a:chExt cx="0" cy="0"/>
        </a:xfrm>
      </p:grpSpPr>
      <p:pic>
        <p:nvPicPr>
          <p:cNvPr id="2" name="Image 0" descr="/tmp/claude-0/-home-user-BlockChess/1e087d2d-a6f1-50dc-b90d-a89667dace2e/scratchpad/deck/07-frontier.png">    </p:cNvPr>
          <p:cNvPicPr>
            <a:picLocks noChangeAspect="1"/>
          </p:cNvPicPr>
          <p:nvPr/>
        </p:nvPicPr>
        <p:blipFill>
          <a:blip r:embed="rId1">
            <a:alphaModFix amt="88000"/>
          </a:blip>
          <a:stretch>
            <a:fillRect/>
          </a:stretch>
        </p:blipFill>
        <p:spPr>
          <a:xfrm>
            <a:off x="6903720" y="0"/>
            <a:ext cx="5285232" cy="5285232"/>
          </a:xfrm>
          <a:prstGeom prst="rect">
            <a:avLst/>
          </a:prstGeom>
        </p:spPr>
      </p:pic>
      <p:sp>
        <p:nvSpPr>
          <p:cNvPr id="3" name="Shape 0"/>
          <p:cNvSpPr/>
          <p:nvPr/>
        </p:nvSpPr>
        <p:spPr>
          <a:xfrm>
            <a:off x="6903720" y="0"/>
            <a:ext cx="5285232" cy="6858000"/>
          </a:xfrm>
          <a:prstGeom prst="rect">
            <a:avLst/>
          </a:prstGeom>
          <a:solidFill>
            <a:srgbClr val="1A1E18">
              <a:alpha val="45000"/>
            </a:srgbClr>
          </a:solidFill>
          <a:ln/>
        </p:spPr>
      </p:sp>
      <p:sp>
        <p:nvSpPr>
          <p:cNvPr id="4" name="Text 1"/>
          <p:cNvSpPr txBox="1"/>
          <p:nvPr/>
        </p:nvSpPr>
        <p:spPr>
          <a:xfrm>
            <a:off x="685800" y="1371600"/>
            <a:ext cx="6400800" cy="274320"/>
          </a:xfrm>
          <a:prstGeom prst="rect">
            <a:avLst/>
          </a:prstGeom>
          <a:noFill/>
          <a:ln/>
        </p:spPr>
        <p:txBody>
          <a:bodyPr wrap="square" lIns="0" tIns="0" rIns="0" bIns="0" rtlCol="0" anchor="ctr"/>
          <a:lstStyle/>
          <a:p>
            <a:pPr indent="0" marL="0">
              <a:buNone/>
            </a:pPr>
            <a:r>
              <a:rPr lang="en-US" sz="1100" b="1" spc="300" kern="0" dirty="0">
                <a:solidFill>
                  <a:srgbClr val="C8912F"/>
                </a:solidFill>
                <a:latin typeface="Calibri" pitchFamily="34" charset="0"/>
                <a:ea typeface="Calibri" pitchFamily="34" charset="-122"/>
                <a:cs typeface="Calibri" pitchFamily="34" charset="-120"/>
              </a:rPr>
              <a:t>A CHESS JOURNAL, READ BACK</a:t>
            </a:r>
            <a:endParaRPr lang="en-US" sz="1100" dirty="0"/>
          </a:p>
        </p:txBody>
      </p:sp>
      <p:sp>
        <p:nvSpPr>
          <p:cNvPr id="5" name="Text 2"/>
          <p:cNvSpPr txBox="1"/>
          <p:nvPr/>
        </p:nvSpPr>
        <p:spPr>
          <a:xfrm>
            <a:off x="658368" y="1783080"/>
            <a:ext cx="6583680" cy="1371600"/>
          </a:xfrm>
          <a:prstGeom prst="rect">
            <a:avLst/>
          </a:prstGeom>
          <a:noFill/>
          <a:ln/>
        </p:spPr>
        <p:txBody>
          <a:bodyPr wrap="square" lIns="0" tIns="0" rIns="0" bIns="0" rtlCol="0" anchor="ctr"/>
          <a:lstStyle/>
          <a:p>
            <a:pPr indent="0" marL="0">
              <a:buNone/>
            </a:pPr>
            <a:r>
              <a:rPr lang="en-US" sz="6000" b="1" dirty="0">
                <a:solidFill>
                  <a:srgbClr val="FFFFFF"/>
                </a:solidFill>
                <a:latin typeface="Cambria" pitchFamily="34" charset="0"/>
                <a:ea typeface="Cambria" pitchFamily="34" charset="-122"/>
                <a:cs typeface="Cambria" pitchFamily="34" charset="-120"/>
              </a:rPr>
              <a:t>Reading the Page</a:t>
            </a:r>
            <a:endParaRPr lang="en-US" sz="6000" dirty="0"/>
          </a:p>
        </p:txBody>
      </p:sp>
      <p:sp>
        <p:nvSpPr>
          <p:cNvPr id="6" name="Text 3"/>
          <p:cNvSpPr txBox="1"/>
          <p:nvPr/>
        </p:nvSpPr>
        <p:spPr>
          <a:xfrm>
            <a:off x="685800" y="3200400"/>
            <a:ext cx="5852160" cy="1005840"/>
          </a:xfrm>
          <a:prstGeom prst="rect">
            <a:avLst/>
          </a:prstGeom>
          <a:noFill/>
          <a:ln/>
        </p:spPr>
        <p:txBody>
          <a:bodyPr wrap="square" lIns="0" tIns="0" rIns="0" bIns="0" rtlCol="0" anchor="ctr"/>
          <a:lstStyle/>
          <a:p>
            <a:pPr indent="0" marL="0">
              <a:lnSpc>
                <a:spcPts val="2600"/>
              </a:lnSpc>
              <a:buNone/>
            </a:pPr>
            <a:r>
              <a:rPr lang="en-US" sz="1700" i="1" dirty="0">
                <a:solidFill>
                  <a:srgbClr val="C9CCC2"/>
                </a:solidFill>
                <a:latin typeface="Cambria" pitchFamily="34" charset="0"/>
                <a:ea typeface="Cambria" pitchFamily="34" charset="-122"/>
                <a:cs typeface="Cambria" pitchFamily="34" charset="-120"/>
              </a:rPr>
              <a:t>The notation it invented, the border it was reaching for, and the places where the page goes quiet.</a:t>
            </a:r>
            <a:endParaRPr lang="en-US" sz="1700" dirty="0"/>
          </a:p>
        </p:txBody>
      </p:sp>
      <p:sp>
        <p:nvSpPr>
          <p:cNvPr id="7" name="Text 4"/>
          <p:cNvSpPr txBox="1"/>
          <p:nvPr/>
        </p:nvSpPr>
        <p:spPr>
          <a:xfrm>
            <a:off x="685800" y="5120640"/>
            <a:ext cx="6035040" cy="274320"/>
          </a:xfrm>
          <a:prstGeom prst="rect">
            <a:avLst/>
          </a:prstGeom>
          <a:noFill/>
          <a:ln/>
        </p:spPr>
        <p:txBody>
          <a:bodyPr wrap="square" lIns="0" tIns="0" rIns="0" bIns="0" rtlCol="0" anchor="ctr"/>
          <a:lstStyle/>
          <a:p>
            <a:pPr indent="0" marL="0">
              <a:buNone/>
            </a:pPr>
            <a:r>
              <a:rPr lang="en-US" sz="1100" dirty="0">
                <a:solidFill>
                  <a:srgbClr val="C8912F"/>
                </a:solidFill>
                <a:latin typeface="Courier New" pitchFamily="34" charset="0"/>
                <a:ea typeface="Courier New" pitchFamily="34" charset="-122"/>
                <a:cs typeface="Courier New" pitchFamily="34" charset="-120"/>
              </a:rPr>
              <a:t>what the page shows</a:t>
            </a:r>
            <a:pPr indent="0" marL="0">
              <a:buNone/>
            </a:pPr>
            <a:r>
              <a:rPr lang="en-US" sz="1100" dirty="0">
                <a:solidFill>
                  <a:srgbClr val="6E7268"/>
                </a:solidFill>
                <a:latin typeface="Courier New" pitchFamily="34" charset="0"/>
                <a:ea typeface="Courier New" pitchFamily="34" charset="-122"/>
                <a:cs typeface="Courier New" pitchFamily="34" charset="-120"/>
              </a:rPr>
              <a:t>   ·   </a:t>
            </a:r>
            <a:pPr indent="0" marL="0">
              <a:buNone/>
            </a:pPr>
            <a:r>
              <a:rPr lang="en-US" sz="1100" dirty="0">
                <a:solidFill>
                  <a:srgbClr val="AB3B28"/>
                </a:solidFill>
                <a:latin typeface="Courier New" pitchFamily="34" charset="0"/>
                <a:ea typeface="Courier New" pitchFamily="34" charset="-122"/>
                <a:cs typeface="Courier New" pitchFamily="34" charset="-120"/>
              </a:rPr>
              <a:t>what it does not</a:t>
            </a:r>
            <a:pPr indent="0" marL="0">
              <a:buNone/>
            </a:pPr>
            <a:r>
              <a:rPr lang="en-US" sz="1100" dirty="0">
                <a:solidFill>
                  <a:srgbClr val="6E7268"/>
                </a:solidFill>
                <a:latin typeface="Courier New" pitchFamily="34" charset="0"/>
                <a:ea typeface="Courier New" pitchFamily="34" charset="-122"/>
                <a:cs typeface="Courier New" pitchFamily="34" charset="-120"/>
              </a:rPr>
              <a:t>   ·   </a:t>
            </a:r>
            <a:pPr indent="0" marL="0">
              <a:buNone/>
            </a:pPr>
            <a:r>
              <a:rPr lang="en-US" sz="1100" dirty="0">
                <a:solidFill>
                  <a:srgbClr val="8FB5AC"/>
                </a:solidFill>
                <a:latin typeface="Courier New" pitchFamily="34" charset="0"/>
                <a:ea typeface="Courier New" pitchFamily="34" charset="-122"/>
                <a:cs typeface="Courier New" pitchFamily="34" charset="-120"/>
              </a:rPr>
              <a:t>what was built from it</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94360" y="402336"/>
            <a:ext cx="10058400" cy="237744"/>
          </a:xfrm>
          <a:prstGeom prst="rect">
            <a:avLst/>
          </a:prstGeom>
          <a:noFill/>
          <a:ln/>
        </p:spPr>
        <p:txBody>
          <a:bodyPr wrap="square" lIns="0" tIns="0" rIns="0" bIns="0" rtlCol="0" anchor="ctr"/>
          <a:lstStyle/>
          <a:p>
            <a:pPr indent="0" marL="0">
              <a:buNone/>
            </a:pPr>
            <a:r>
              <a:rPr lang="en-US" sz="1050" b="1" spc="240" kern="0" dirty="0">
                <a:solidFill>
                  <a:srgbClr val="A1741F"/>
                </a:solidFill>
                <a:latin typeface="Calibri" pitchFamily="34" charset="0"/>
                <a:ea typeface="Calibri" pitchFamily="34" charset="-122"/>
                <a:cs typeface="Calibri" pitchFamily="34" charset="-120"/>
              </a:rPr>
              <a:t>THE CLAIM</a:t>
            </a:r>
            <a:endParaRPr lang="en-US" sz="1050" dirty="0"/>
          </a:p>
        </p:txBody>
      </p:sp>
      <p:sp>
        <p:nvSpPr>
          <p:cNvPr id="3" name="Text 1"/>
          <p:cNvSpPr txBox="1"/>
          <p:nvPr/>
        </p:nvSpPr>
        <p:spPr>
          <a:xfrm>
            <a:off x="594360" y="658368"/>
            <a:ext cx="10424160" cy="731520"/>
          </a:xfrm>
          <a:prstGeom prst="rect">
            <a:avLst/>
          </a:prstGeom>
          <a:noFill/>
          <a:ln/>
        </p:spPr>
        <p:txBody>
          <a:bodyPr wrap="square" lIns="0" tIns="0" rIns="0" bIns="0" rtlCol="0" anchor="ctr"/>
          <a:lstStyle/>
          <a:p>
            <a:pPr indent="0" marL="0">
              <a:buNone/>
            </a:pPr>
            <a:r>
              <a:rPr lang="en-US" sz="3300" b="1" dirty="0">
                <a:solidFill>
                  <a:srgbClr val="1A1E18"/>
                </a:solidFill>
                <a:latin typeface="Cambria" pitchFamily="34" charset="0"/>
                <a:ea typeface="Cambria" pitchFamily="34" charset="-122"/>
                <a:cs typeface="Cambria" pitchFamily="34" charset="-120"/>
              </a:rPr>
              <a:t>This page is not a record of a game.</a:t>
            </a:r>
            <a:endParaRPr lang="en-US" sz="3300" dirty="0"/>
          </a:p>
        </p:txBody>
      </p:sp>
      <p:sp>
        <p:nvSpPr>
          <p:cNvPr id="4" name="Text 2"/>
          <p:cNvSpPr txBox="1"/>
          <p:nvPr/>
        </p:nvSpPr>
        <p:spPr>
          <a:xfrm>
            <a:off x="594360" y="1481328"/>
            <a:ext cx="10424160" cy="548640"/>
          </a:xfrm>
          <a:prstGeom prst="rect">
            <a:avLst/>
          </a:prstGeom>
          <a:noFill/>
          <a:ln/>
        </p:spPr>
        <p:txBody>
          <a:bodyPr wrap="square" lIns="0" tIns="0" rIns="0" bIns="0" rtlCol="0" anchor="ctr"/>
          <a:lstStyle/>
          <a:p>
            <a:pPr indent="0" marL="0">
              <a:buNone/>
            </a:pPr>
            <a:r>
              <a:rPr lang="en-US" sz="2300" i="1" dirty="0">
                <a:solidFill>
                  <a:srgbClr val="A1741F"/>
                </a:solidFill>
                <a:latin typeface="Cambria" pitchFamily="34" charset="0"/>
                <a:ea typeface="Cambria" pitchFamily="34" charset="-122"/>
                <a:cs typeface="Cambria" pitchFamily="34" charset="-120"/>
              </a:rPr>
              <a:t>It is a record of someone building a way to see one.</a:t>
            </a:r>
            <a:endParaRPr lang="en-US" sz="2300" dirty="0"/>
          </a:p>
        </p:txBody>
      </p:sp>
      <p:sp>
        <p:nvSpPr>
          <p:cNvPr id="5" name="Text 3"/>
          <p:cNvSpPr txBox="1"/>
          <p:nvPr/>
        </p:nvSpPr>
        <p:spPr>
          <a:xfrm>
            <a:off x="594360" y="2240280"/>
            <a:ext cx="5577840" cy="3291840"/>
          </a:xfrm>
          <a:prstGeom prst="rect">
            <a:avLst/>
          </a:prstGeom>
          <a:noFill/>
          <a:ln/>
        </p:spPr>
        <p:txBody>
          <a:bodyPr wrap="square" lIns="0" tIns="0" rIns="0" bIns="0" rtlCol="0" anchor="t"/>
          <a:lstStyle/>
          <a:p>
            <a:pPr indent="0" marL="0">
              <a:lnSpc>
                <a:spcPts val="2200"/>
              </a:lnSpc>
              <a:buNone/>
            </a:pPr>
            <a:r>
              <a:rPr lang="en-US" sz="1450" dirty="0">
                <a:solidFill>
                  <a:srgbClr val="2B2F29"/>
                </a:solidFill>
                <a:latin typeface="Calibri" pitchFamily="34" charset="0"/>
                <a:ea typeface="Calibri" pitchFamily="34" charset="-122"/>
                <a:cs typeface="Calibri" pitchFamily="34" charset="-120"/>
              </a:rPr>
              <a:t>Nothing on the sheet is a move list. There is no score, no algebraic notation, no sequence anyone could replay. What covers it instead is a ladder of abstractions — the same board drawn over and over, each time with more thrown away.</a:t>
            </a:r>
            <a:endParaRPr lang="en-US" sz="1450" dirty="0"/>
          </a:p>
          <a:p>
            <a:pPr indent="0" marL="0">
              <a:lnSpc>
                <a:spcPts val="2200"/>
              </a:lnSpc>
              <a:buNone/>
            </a:pPr>
            <a:endParaRPr lang="en-US" sz="1450" dirty="0"/>
          </a:p>
          <a:p>
            <a:pPr indent="0" marL="0">
              <a:lnSpc>
                <a:spcPts val="2200"/>
              </a:lnSpc>
              <a:buNone/>
            </a:pPr>
            <a:r>
              <a:rPr lang="en-US" sz="1450" dirty="0">
                <a:solidFill>
                  <a:srgbClr val="2B2F29"/>
                </a:solidFill>
                <a:latin typeface="Calibri" pitchFamily="34" charset="0"/>
                <a:ea typeface="Calibri" pitchFamily="34" charset="-122"/>
                <a:cs typeface="Calibri" pitchFamily="34" charset="-120"/>
              </a:rPr>
              <a:t>Read in that order, the page has a direction. It starts with pieces, ends with bits, and the thing it keeps circling is where one side’s board stops and the other’s starts.</a:t>
            </a:r>
            <a:endParaRPr lang="en-US" sz="1450" dirty="0"/>
          </a:p>
        </p:txBody>
      </p:sp>
      <p:pic>
        <p:nvPicPr>
          <p:cNvPr id="6" name="Image 0" descr="/tmp/claude-0/-home-user-BlockChess/1e087d2d-a6f1-50dc-b90d-a89667dace2e/scratchpad/deck/01-start-pieces.png">    </p:cNvPr>
          <p:cNvPicPr>
            <a:picLocks noChangeAspect="1"/>
          </p:cNvPicPr>
          <p:nvPr/>
        </p:nvPicPr>
        <p:blipFill>
          <a:blip r:embed="rId1"/>
          <a:stretch>
            <a:fillRect/>
          </a:stretch>
        </p:blipFill>
        <p:spPr>
          <a:xfrm>
            <a:off x="6858000" y="1965960"/>
            <a:ext cx="3566160" cy="3566160"/>
          </a:xfrm>
          <a:prstGeom prst="rect">
            <a:avLst/>
          </a:prstGeom>
        </p:spPr>
      </p:pic>
      <p:sp>
        <p:nvSpPr>
          <p:cNvPr id="7" name="Shape 4"/>
          <p:cNvSpPr/>
          <p:nvPr/>
        </p:nvSpPr>
        <p:spPr>
          <a:xfrm>
            <a:off x="6858000" y="1965960"/>
            <a:ext cx="3566160" cy="3566160"/>
          </a:xfrm>
          <a:prstGeom prst="rect">
            <a:avLst/>
          </a:prstGeom>
          <a:solidFill>
            <a:srgbClr val="FFFFFF">
              <a:alpha val="0"/>
            </a:srgbClr>
          </a:solidFill>
          <a:ln w="9525">
            <a:solidFill>
              <a:srgbClr val="D8D5CB"/>
            </a:solidFill>
            <a:prstDash val="solid"/>
          </a:ln>
        </p:spPr>
      </p:sp>
      <p:sp>
        <p:nvSpPr>
          <p:cNvPr id="8" name="Text 5"/>
          <p:cNvSpPr txBox="1"/>
          <p:nvPr/>
        </p:nvSpPr>
        <p:spPr>
          <a:xfrm>
            <a:off x="6858000" y="5650992"/>
            <a:ext cx="4206240" cy="457200"/>
          </a:xfrm>
          <a:prstGeom prst="rect">
            <a:avLst/>
          </a:prstGeom>
          <a:noFill/>
          <a:ln/>
        </p:spPr>
        <p:txBody>
          <a:bodyPr wrap="square" lIns="0" tIns="0" rIns="0" bIns="0" rtlCol="0" anchor="ctr"/>
          <a:lstStyle/>
          <a:p>
            <a:pPr indent="0" marL="0">
              <a:buNone/>
            </a:pPr>
            <a:r>
              <a:rPr lang="en-US" sz="1050" i="1" dirty="0">
                <a:solidFill>
                  <a:srgbClr val="6E7268"/>
                </a:solidFill>
                <a:latin typeface="Calibri" pitchFamily="34" charset="0"/>
                <a:ea typeface="Calibri" pitchFamily="34" charset="-122"/>
                <a:cs typeface="Calibri" pitchFamily="34" charset="-120"/>
              </a:rPr>
              <a:t>The opening position, drawn plainly — where the page also begins, top right, under the word “Start”.</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94360" y="402336"/>
            <a:ext cx="10058400" cy="237744"/>
          </a:xfrm>
          <a:prstGeom prst="rect">
            <a:avLst/>
          </a:prstGeom>
          <a:noFill/>
          <a:ln/>
        </p:spPr>
        <p:txBody>
          <a:bodyPr wrap="square" lIns="0" tIns="0" rIns="0" bIns="0" rtlCol="0" anchor="ctr"/>
          <a:lstStyle/>
          <a:p>
            <a:pPr indent="0" marL="0">
              <a:buNone/>
            </a:pPr>
            <a:r>
              <a:rPr lang="en-US" sz="1050" b="1" spc="240" kern="0" dirty="0">
                <a:solidFill>
                  <a:srgbClr val="A1741F"/>
                </a:solidFill>
                <a:latin typeface="Calibri" pitchFamily="34" charset="0"/>
                <a:ea typeface="Calibri" pitchFamily="34" charset="-122"/>
                <a:cs typeface="Calibri" pitchFamily="34" charset="-120"/>
              </a:rPr>
              <a:t>BEFORE WE START</a:t>
            </a:r>
            <a:endParaRPr lang="en-US" sz="1050" dirty="0"/>
          </a:p>
        </p:txBody>
      </p:sp>
      <p:sp>
        <p:nvSpPr>
          <p:cNvPr id="3" name="Text 1"/>
          <p:cNvSpPr txBox="1"/>
          <p:nvPr/>
        </p:nvSpPr>
        <p:spPr>
          <a:xfrm>
            <a:off x="594360" y="658368"/>
            <a:ext cx="10424160" cy="731520"/>
          </a:xfrm>
          <a:prstGeom prst="rect">
            <a:avLst/>
          </a:prstGeom>
          <a:noFill/>
          <a:ln/>
        </p:spPr>
        <p:txBody>
          <a:bodyPr wrap="square" lIns="0" tIns="0" rIns="0" bIns="0" rtlCol="0" anchor="ctr"/>
          <a:lstStyle/>
          <a:p>
            <a:pPr indent="0" marL="0">
              <a:buNone/>
            </a:pPr>
            <a:r>
              <a:rPr lang="en-US" sz="3300" b="1" dirty="0">
                <a:solidFill>
                  <a:srgbClr val="1A1E18"/>
                </a:solidFill>
                <a:latin typeface="Cambria" pitchFamily="34" charset="0"/>
                <a:ea typeface="Cambria" pitchFamily="34" charset="-122"/>
                <a:cs typeface="Cambria" pitchFamily="34" charset="-120"/>
              </a:rPr>
              <a:t>What the page tells us, and what it withholds</a:t>
            </a:r>
            <a:endParaRPr lang="en-US" sz="3300" dirty="0"/>
          </a:p>
        </p:txBody>
      </p:sp>
      <p:sp>
        <p:nvSpPr>
          <p:cNvPr id="4" name="Shape 2"/>
          <p:cNvSpPr/>
          <p:nvPr/>
        </p:nvSpPr>
        <p:spPr>
          <a:xfrm>
            <a:off x="594360" y="1783080"/>
            <a:ext cx="5349240" cy="4160520"/>
          </a:xfrm>
          <a:prstGeom prst="rect">
            <a:avLst/>
          </a:prstGeom>
          <a:solidFill>
            <a:srgbClr val="F4F3EF"/>
          </a:solidFill>
          <a:ln/>
        </p:spPr>
      </p:sp>
      <p:sp>
        <p:nvSpPr>
          <p:cNvPr id="5" name="Text 3"/>
          <p:cNvSpPr txBox="1"/>
          <p:nvPr/>
        </p:nvSpPr>
        <p:spPr>
          <a:xfrm>
            <a:off x="914400" y="2057400"/>
            <a:ext cx="2743200" cy="274320"/>
          </a:xfrm>
          <a:prstGeom prst="rect">
            <a:avLst/>
          </a:prstGeom>
          <a:noFill/>
          <a:ln/>
        </p:spPr>
        <p:txBody>
          <a:bodyPr wrap="square" lIns="0" tIns="0" rIns="0" bIns="0" rtlCol="0" anchor="ctr"/>
          <a:lstStyle/>
          <a:p>
            <a:pPr indent="0" marL="0">
              <a:buNone/>
            </a:pPr>
            <a:r>
              <a:rPr lang="en-US" sz="1100" b="1" spc="240" kern="0" dirty="0">
                <a:solidFill>
                  <a:srgbClr val="A1741F"/>
                </a:solidFill>
                <a:latin typeface="Calibri" pitchFamily="34" charset="0"/>
                <a:ea typeface="Calibri" pitchFamily="34" charset="-122"/>
                <a:cs typeface="Calibri" pitchFamily="34" charset="-120"/>
              </a:rPr>
              <a:t>LEGIBLE</a:t>
            </a:r>
            <a:endParaRPr lang="en-US" sz="1100" dirty="0"/>
          </a:p>
        </p:txBody>
      </p:sp>
      <p:sp>
        <p:nvSpPr>
          <p:cNvPr id="6" name="Text 4"/>
          <p:cNvSpPr txBox="1"/>
          <p:nvPr/>
        </p:nvSpPr>
        <p:spPr>
          <a:xfrm>
            <a:off x="914400" y="2450592"/>
            <a:ext cx="4709160" cy="3200400"/>
          </a:xfrm>
          <a:prstGeom prst="rect">
            <a:avLst/>
          </a:prstGeom>
          <a:noFill/>
          <a:ln/>
        </p:spPr>
        <p:txBody>
          <a:bodyPr wrap="square" lIns="0" tIns="0" rIns="0" bIns="0" rtlCol="0" anchor="ctr"/>
          <a:lstStyle/>
          <a:p>
            <a:pPr marL="342900" indent="-342900">
              <a:spcAft>
                <a:spcPts val="900"/>
              </a:spcAft>
              <a:buSzPct val="100000"/>
              <a:buChar char="•"/>
            </a:pPr>
            <a:r>
              <a:rPr lang="en-US" sz="1250" dirty="0">
                <a:solidFill>
                  <a:srgbClr val="2B2F29"/>
                </a:solidFill>
                <a:latin typeface="Calibri" pitchFamily="34" charset="0"/>
                <a:ea typeface="Calibri" pitchFamily="34" charset="-122"/>
                <a:cs typeface="Calibri" pitchFamily="34" charset="-120"/>
              </a:rPr>
              <a:t>The labels, in the author’s hand — first abstraction, cover, Vision, Information / Compression / Symbol, Boards, Symmetries.</a:t>
            </a:r>
            <a:endParaRPr lang="en-US" sz="1250" dirty="0"/>
          </a:p>
          <a:p>
            <a:pPr marL="342900" indent="-342900">
              <a:spcAft>
                <a:spcPts val="900"/>
              </a:spcAft>
              <a:buSzPct val="100000"/>
              <a:buChar char="•"/>
            </a:pPr>
            <a:r>
              <a:rPr lang="en-US" sz="1250" dirty="0">
                <a:solidFill>
                  <a:srgbClr val="2B2F29"/>
                </a:solidFill>
                <a:latin typeface="Calibri" pitchFamily="34" charset="0"/>
                <a:ea typeface="Calibri" pitchFamily="34" charset="-122"/>
                <a:cs typeface="Calibri" pitchFamily="34" charset="-120"/>
              </a:rPr>
              <a:t>A substitution key in the right margin: 5 ⇒ …, 8 ⇒ …, mapping numerals onto movement glyphs.</a:t>
            </a:r>
            <a:endParaRPr lang="en-US" sz="1250" dirty="0"/>
          </a:p>
          <a:p>
            <a:pPr marL="342900" indent="-342900">
              <a:spcAft>
                <a:spcPts val="900"/>
              </a:spcAft>
              <a:buSzPct val="100000"/>
              <a:buChar char="•"/>
            </a:pPr>
            <a:r>
              <a:rPr lang="en-US" sz="1250" dirty="0">
                <a:solidFill>
                  <a:srgbClr val="2B2F29"/>
                </a:solidFill>
                <a:latin typeface="Calibri" pitchFamily="34" charset="0"/>
                <a:ea typeface="Calibri" pitchFamily="34" charset="-122"/>
                <a:cs typeface="Calibri" pitchFamily="34" charset="-120"/>
              </a:rPr>
              <a:t>A bracket over a row of marks reading 3bits, and a second column annotated 4bit.</a:t>
            </a:r>
            <a:endParaRPr lang="en-US" sz="1250" dirty="0"/>
          </a:p>
          <a:p>
            <a:pPr marL="342900" indent="-342900">
              <a:spcAft>
                <a:spcPts val="900"/>
              </a:spcAft>
              <a:buSzPct val="100000"/>
              <a:buChar char="•"/>
            </a:pPr>
            <a:r>
              <a:rPr lang="en-US" sz="1250" dirty="0">
                <a:solidFill>
                  <a:srgbClr val="2B2F29"/>
                </a:solidFill>
                <a:latin typeface="Calibri" pitchFamily="34" charset="0"/>
                <a:ea typeface="Calibri" pitchFamily="34" charset="-122"/>
                <a:cs typeface="Calibri" pitchFamily="34" charset="-120"/>
              </a:rPr>
              <a:t>A written binary string, and a note reading non pawns.</a:t>
            </a:r>
            <a:endParaRPr lang="en-US" sz="1250" dirty="0"/>
          </a:p>
        </p:txBody>
      </p:sp>
      <p:sp>
        <p:nvSpPr>
          <p:cNvPr id="7" name="Shape 5"/>
          <p:cNvSpPr/>
          <p:nvPr/>
        </p:nvSpPr>
        <p:spPr>
          <a:xfrm>
            <a:off x="6263640" y="1783080"/>
            <a:ext cx="5349240" cy="4160520"/>
          </a:xfrm>
          <a:prstGeom prst="rect">
            <a:avLst/>
          </a:prstGeom>
          <a:solidFill>
            <a:srgbClr val="FBF1EF"/>
          </a:solidFill>
          <a:ln/>
        </p:spPr>
      </p:sp>
      <p:sp>
        <p:nvSpPr>
          <p:cNvPr id="8" name="Text 6"/>
          <p:cNvSpPr txBox="1"/>
          <p:nvPr/>
        </p:nvSpPr>
        <p:spPr>
          <a:xfrm>
            <a:off x="6583680" y="2057400"/>
            <a:ext cx="2743200" cy="274320"/>
          </a:xfrm>
          <a:prstGeom prst="rect">
            <a:avLst/>
          </a:prstGeom>
          <a:noFill/>
          <a:ln/>
        </p:spPr>
        <p:txBody>
          <a:bodyPr wrap="square" lIns="0" tIns="0" rIns="0" bIns="0" rtlCol="0" anchor="ctr"/>
          <a:lstStyle/>
          <a:p>
            <a:pPr indent="0" marL="0">
              <a:buNone/>
            </a:pPr>
            <a:r>
              <a:rPr lang="en-US" sz="1100" b="1" spc="240" kern="0" dirty="0">
                <a:solidFill>
                  <a:srgbClr val="AB3B28"/>
                </a:solidFill>
                <a:latin typeface="Calibri" pitchFamily="34" charset="0"/>
                <a:ea typeface="Calibri" pitchFamily="34" charset="-122"/>
                <a:cs typeface="Calibri" pitchFamily="34" charset="-120"/>
              </a:rPr>
              <a:t>UNREAD</a:t>
            </a:r>
            <a:endParaRPr lang="en-US" sz="1100" dirty="0"/>
          </a:p>
        </p:txBody>
      </p:sp>
      <p:sp>
        <p:nvSpPr>
          <p:cNvPr id="9" name="Text 7"/>
          <p:cNvSpPr txBox="1"/>
          <p:nvPr/>
        </p:nvSpPr>
        <p:spPr>
          <a:xfrm>
            <a:off x="6583680" y="2450592"/>
            <a:ext cx="4709160" cy="3200400"/>
          </a:xfrm>
          <a:prstGeom prst="rect">
            <a:avLst/>
          </a:prstGeom>
          <a:noFill/>
          <a:ln/>
        </p:spPr>
        <p:txBody>
          <a:bodyPr wrap="square" lIns="0" tIns="0" rIns="0" bIns="0" rtlCol="0" anchor="ctr"/>
          <a:lstStyle/>
          <a:p>
            <a:pPr marL="342900" indent="-342900">
              <a:spcAft>
                <a:spcPts val="900"/>
              </a:spcAft>
              <a:buSzPct val="100000"/>
              <a:buChar char="•"/>
            </a:pPr>
            <a:r>
              <a:rPr lang="en-US" sz="1250" dirty="0">
                <a:solidFill>
                  <a:srgbClr val="2B2F29"/>
                </a:solidFill>
                <a:latin typeface="Calibri" pitchFamily="34" charset="0"/>
                <a:ea typeface="Calibri" pitchFamily="34" charset="-122"/>
                <a:cs typeface="Calibri" pitchFamily="34" charset="-120"/>
              </a:rPr>
              <a:t>What each glyph stands for. The key is partial — the alphabet is not fully decodable from the sheet.</a:t>
            </a:r>
            <a:endParaRPr lang="en-US" sz="1250" dirty="0"/>
          </a:p>
          <a:p>
            <a:pPr marL="342900" indent="-342900">
              <a:spcAft>
                <a:spcPts val="900"/>
              </a:spcAft>
              <a:buSzPct val="100000"/>
              <a:buChar char="•"/>
            </a:pPr>
            <a:r>
              <a:rPr lang="en-US" sz="1250" dirty="0">
                <a:solidFill>
                  <a:srgbClr val="2B2F29"/>
                </a:solidFill>
                <a:latin typeface="Calibri" pitchFamily="34" charset="0"/>
                <a:ea typeface="Calibri" pitchFamily="34" charset="-122"/>
                <a:cs typeface="Calibri" pitchFamily="34" charset="-120"/>
              </a:rPr>
              <a:t>What 8 geometry means. It is boxed and circled, so it mattered, and it is the one term with no worked example.</a:t>
            </a:r>
            <a:endParaRPr lang="en-US" sz="1250" dirty="0"/>
          </a:p>
          <a:p>
            <a:pPr marL="342900" indent="-342900">
              <a:spcAft>
                <a:spcPts val="900"/>
              </a:spcAft>
              <a:buSzPct val="100000"/>
              <a:buChar char="•"/>
            </a:pPr>
            <a:r>
              <a:rPr lang="en-US" sz="1250" dirty="0">
                <a:solidFill>
                  <a:srgbClr val="2B2F29"/>
                </a:solidFill>
                <a:latin typeface="Calibri" pitchFamily="34" charset="0"/>
                <a:ea typeface="Calibri" pitchFamily="34" charset="-122"/>
                <a:cs typeface="Calibri" pitchFamily="34" charset="-120"/>
              </a:rPr>
              <a:t>Whether the large glyph field is a transcription of a real game or drills in the new alphabet.</a:t>
            </a:r>
            <a:endParaRPr lang="en-US" sz="1250" dirty="0"/>
          </a:p>
          <a:p>
            <a:pPr marL="342900" indent="-342900">
              <a:spcAft>
                <a:spcPts val="900"/>
              </a:spcAft>
              <a:buSzPct val="100000"/>
              <a:buChar char="•"/>
            </a:pPr>
            <a:r>
              <a:rPr lang="en-US" sz="1250" dirty="0">
                <a:solidFill>
                  <a:srgbClr val="2B2F29"/>
                </a:solidFill>
                <a:latin typeface="Calibri" pitchFamily="34" charset="0"/>
                <a:ea typeface="Calibri" pitchFamily="34" charset="-122"/>
                <a:cs typeface="Calibri" pitchFamily="34" charset="-120"/>
              </a:rPr>
              <a:t>What the filled-in black squares mark. They recur on several small boards.</a:t>
            </a:r>
            <a:endParaRPr lang="en-US" sz="1250" dirty="0"/>
          </a:p>
          <a:p>
            <a:pPr marL="342900" indent="-342900">
              <a:spcAft>
                <a:spcPts val="900"/>
              </a:spcAft>
              <a:buSzPct val="100000"/>
              <a:buChar char="•"/>
            </a:pPr>
            <a:r>
              <a:rPr lang="en-US" sz="1250" dirty="0">
                <a:solidFill>
                  <a:srgbClr val="2B2F29"/>
                </a:solidFill>
                <a:latin typeface="Calibri" pitchFamily="34" charset="0"/>
                <a:ea typeface="Calibri" pitchFamily="34" charset="-122"/>
                <a:cs typeface="Calibri" pitchFamily="34" charset="-120"/>
              </a:rPr>
              <a:t>The order the page was written in, and which game — if any — was in front of the author.</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94360" y="566928"/>
            <a:ext cx="566928" cy="566928"/>
          </a:xfrm>
          <a:prstGeom prst="ellipse">
            <a:avLst/>
          </a:prstGeom>
          <a:solidFill>
            <a:srgbClr val="A1741F"/>
          </a:solidFill>
          <a:ln/>
        </p:spPr>
      </p:sp>
      <p:sp>
        <p:nvSpPr>
          <p:cNvPr id="3" name="Text 1"/>
          <p:cNvSpPr txBox="1"/>
          <p:nvPr/>
        </p:nvSpPr>
        <p:spPr>
          <a:xfrm>
            <a:off x="594360" y="566928"/>
            <a:ext cx="566928" cy="56692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01</a:t>
            </a:r>
            <a:endParaRPr lang="en-US" sz="1500" dirty="0"/>
          </a:p>
        </p:txBody>
      </p:sp>
      <p:sp>
        <p:nvSpPr>
          <p:cNvPr id="4" name="Text 2"/>
          <p:cNvSpPr txBox="1"/>
          <p:nvPr/>
        </p:nvSpPr>
        <p:spPr>
          <a:xfrm>
            <a:off x="1325880" y="402336"/>
            <a:ext cx="10058400" cy="237744"/>
          </a:xfrm>
          <a:prstGeom prst="rect">
            <a:avLst/>
          </a:prstGeom>
          <a:noFill/>
          <a:ln/>
        </p:spPr>
        <p:txBody>
          <a:bodyPr wrap="square" lIns="0" tIns="0" rIns="0" bIns="0" rtlCol="0" anchor="ctr"/>
          <a:lstStyle/>
          <a:p>
            <a:pPr indent="0" marL="0">
              <a:buNone/>
            </a:pPr>
            <a:r>
              <a:rPr lang="en-US" sz="1050" b="1" spc="240" kern="0" dirty="0">
                <a:solidFill>
                  <a:srgbClr val="A1741F"/>
                </a:solidFill>
                <a:latin typeface="Calibri" pitchFamily="34" charset="0"/>
                <a:ea typeface="Calibri" pitchFamily="34" charset="-122"/>
                <a:cs typeface="Calibri" pitchFamily="34" charset="-120"/>
              </a:rPr>
              <a:t>TOP LEFT OF THE PAGE</a:t>
            </a:r>
            <a:endParaRPr lang="en-US" sz="1050" dirty="0"/>
          </a:p>
        </p:txBody>
      </p:sp>
      <p:sp>
        <p:nvSpPr>
          <p:cNvPr id="5" name="Text 3"/>
          <p:cNvSpPr txBox="1"/>
          <p:nvPr/>
        </p:nvSpPr>
        <p:spPr>
          <a:xfrm>
            <a:off x="1325880" y="658368"/>
            <a:ext cx="10424160" cy="731520"/>
          </a:xfrm>
          <a:prstGeom prst="rect">
            <a:avLst/>
          </a:prstGeom>
          <a:noFill/>
          <a:ln/>
        </p:spPr>
        <p:txBody>
          <a:bodyPr wrap="square" lIns="0" tIns="0" rIns="0" bIns="0" rtlCol="0" anchor="ctr"/>
          <a:lstStyle/>
          <a:p>
            <a:pPr indent="0" marL="0">
              <a:buNone/>
            </a:pPr>
            <a:r>
              <a:rPr lang="en-US" sz="3300" b="1" dirty="0">
                <a:solidFill>
                  <a:srgbClr val="1A1E18"/>
                </a:solidFill>
                <a:latin typeface="Cambria" pitchFamily="34" charset="0"/>
                <a:ea typeface="Cambria" pitchFamily="34" charset="-122"/>
                <a:cs typeface="Cambria" pitchFamily="34" charset="-120"/>
              </a:rPr>
              <a:t>First abstraction</a:t>
            </a:r>
            <a:endParaRPr lang="en-US" sz="3300" dirty="0"/>
          </a:p>
        </p:txBody>
      </p:sp>
      <p:pic>
        <p:nvPicPr>
          <p:cNvPr id="6" name="Image 0" descr="/tmp/claude-0/-home-user-BlockChess/1e087d2d-a6f1-50dc-b90d-a89667dace2e/scratchpad/deck/01-start-pieces.png">    </p:cNvPr>
          <p:cNvPicPr>
            <a:picLocks noChangeAspect="1"/>
          </p:cNvPicPr>
          <p:nvPr/>
        </p:nvPicPr>
        <p:blipFill>
          <a:blip r:embed="rId1"/>
          <a:stretch>
            <a:fillRect/>
          </a:stretch>
        </p:blipFill>
        <p:spPr>
          <a:xfrm>
            <a:off x="594360" y="1783080"/>
            <a:ext cx="3977640" cy="3977640"/>
          </a:xfrm>
          <a:prstGeom prst="rect">
            <a:avLst/>
          </a:prstGeom>
        </p:spPr>
      </p:pic>
      <p:sp>
        <p:nvSpPr>
          <p:cNvPr id="7" name="Shape 4"/>
          <p:cNvSpPr/>
          <p:nvPr/>
        </p:nvSpPr>
        <p:spPr>
          <a:xfrm>
            <a:off x="594360" y="1783080"/>
            <a:ext cx="3977640" cy="3977640"/>
          </a:xfrm>
          <a:prstGeom prst="rect">
            <a:avLst/>
          </a:prstGeom>
          <a:solidFill>
            <a:srgbClr val="FFFFFF">
              <a:alpha val="0"/>
            </a:srgbClr>
          </a:solidFill>
          <a:ln w="9525">
            <a:solidFill>
              <a:srgbClr val="D8D5CB"/>
            </a:solidFill>
            <a:prstDash val="solid"/>
          </a:ln>
        </p:spPr>
      </p:sp>
      <p:sp>
        <p:nvSpPr>
          <p:cNvPr id="8" name="Text 5"/>
          <p:cNvSpPr txBox="1"/>
          <p:nvPr/>
        </p:nvSpPr>
        <p:spPr>
          <a:xfrm>
            <a:off x="4983480" y="1874520"/>
            <a:ext cx="6583680" cy="3291840"/>
          </a:xfrm>
          <a:prstGeom prst="rect">
            <a:avLst/>
          </a:prstGeom>
          <a:noFill/>
          <a:ln/>
        </p:spPr>
        <p:txBody>
          <a:bodyPr wrap="square" lIns="0" tIns="0" rIns="0" bIns="0" rtlCol="0" anchor="t"/>
          <a:lstStyle/>
          <a:p>
            <a:pPr indent="0" marL="0">
              <a:lnSpc>
                <a:spcPts val="2200"/>
              </a:lnSpc>
              <a:buNone/>
            </a:pPr>
            <a:r>
              <a:rPr lang="en-US" sz="1450" dirty="0">
                <a:solidFill>
                  <a:srgbClr val="2B2F29"/>
                </a:solidFill>
                <a:latin typeface="Calibri" pitchFamily="34" charset="0"/>
                <a:ea typeface="Calibri" pitchFamily="34" charset="-122"/>
                <a:cs typeface="Calibri" pitchFamily="34" charset="-120"/>
              </a:rPr>
              <a:t>The phrase is written on the sheet, next to a small grid with its squares crossed. It is the founding move of everything else: stop drawing pieces, start drawing marks.</a:t>
            </a:r>
            <a:endParaRPr lang="en-US" sz="1450" dirty="0"/>
          </a:p>
          <a:p>
            <a:pPr indent="0" marL="0">
              <a:lnSpc>
                <a:spcPts val="2200"/>
              </a:lnSpc>
              <a:buNone/>
            </a:pPr>
            <a:endParaRPr lang="en-US" sz="1450" dirty="0"/>
          </a:p>
          <a:p>
            <a:pPr indent="0" marL="0">
              <a:lnSpc>
                <a:spcPts val="2200"/>
              </a:lnSpc>
              <a:buNone/>
            </a:pPr>
            <a:r>
              <a:rPr lang="en-US" sz="1450" dirty="0">
                <a:solidFill>
                  <a:srgbClr val="2B2F29"/>
                </a:solidFill>
                <a:latin typeface="Calibri" pitchFamily="34" charset="0"/>
                <a:ea typeface="Calibri" pitchFamily="34" charset="-122"/>
                <a:cs typeface="Calibri" pitchFamily="34" charset="-120"/>
              </a:rPr>
              <a:t>A knight is not a horse. It is a set of squares it bears on. Once that swap is made, the board stops being a picture of an army and becomes a field of claims — and a field can be measured.</a:t>
            </a:r>
            <a:endParaRPr lang="en-US" sz="1450" dirty="0"/>
          </a:p>
        </p:txBody>
      </p:sp>
      <p:sp>
        <p:nvSpPr>
          <p:cNvPr id="9" name="Text 6"/>
          <p:cNvSpPr txBox="1"/>
          <p:nvPr/>
        </p:nvSpPr>
        <p:spPr>
          <a:xfrm>
            <a:off x="4983480" y="5257800"/>
            <a:ext cx="6400800" cy="457200"/>
          </a:xfrm>
          <a:prstGeom prst="rect">
            <a:avLst/>
          </a:prstGeom>
          <a:noFill/>
          <a:ln/>
        </p:spPr>
        <p:txBody>
          <a:bodyPr wrap="square" lIns="0" tIns="0" rIns="0" bIns="0" rtlCol="0" anchor="ctr"/>
          <a:lstStyle/>
          <a:p>
            <a:pPr indent="0" marL="0">
              <a:buNone/>
            </a:pPr>
            <a:r>
              <a:rPr lang="en-US" sz="1050" i="1" dirty="0">
                <a:solidFill>
                  <a:srgbClr val="6E7268"/>
                </a:solidFill>
                <a:latin typeface="Calibri" pitchFamily="34" charset="0"/>
                <a:ea typeface="Calibri" pitchFamily="34" charset="-122"/>
                <a:cs typeface="Calibri" pitchFamily="34" charset="-120"/>
              </a:rPr>
              <a:t>Thirty-two objects. Nothing yet about who holds what.</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94360" y="566928"/>
            <a:ext cx="566928" cy="566928"/>
          </a:xfrm>
          <a:prstGeom prst="ellipse">
            <a:avLst/>
          </a:prstGeom>
          <a:solidFill>
            <a:srgbClr val="A1741F"/>
          </a:solidFill>
          <a:ln/>
        </p:spPr>
      </p:sp>
      <p:sp>
        <p:nvSpPr>
          <p:cNvPr id="3" name="Text 1"/>
          <p:cNvSpPr txBox="1"/>
          <p:nvPr/>
        </p:nvSpPr>
        <p:spPr>
          <a:xfrm>
            <a:off x="594360" y="566928"/>
            <a:ext cx="566928" cy="56692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02</a:t>
            </a:r>
            <a:endParaRPr lang="en-US" sz="1500" dirty="0"/>
          </a:p>
        </p:txBody>
      </p:sp>
      <p:sp>
        <p:nvSpPr>
          <p:cNvPr id="4" name="Text 2"/>
          <p:cNvSpPr txBox="1"/>
          <p:nvPr/>
        </p:nvSpPr>
        <p:spPr>
          <a:xfrm>
            <a:off x="1325880" y="402336"/>
            <a:ext cx="10058400" cy="237744"/>
          </a:xfrm>
          <a:prstGeom prst="rect">
            <a:avLst/>
          </a:prstGeom>
          <a:noFill/>
          <a:ln/>
        </p:spPr>
        <p:txBody>
          <a:bodyPr wrap="square" lIns="0" tIns="0" rIns="0" bIns="0" rtlCol="0" anchor="ctr"/>
          <a:lstStyle/>
          <a:p>
            <a:pPr indent="0" marL="0">
              <a:buNone/>
            </a:pPr>
            <a:r>
              <a:rPr lang="en-US" sz="1050" b="1" spc="240" kern="0" dirty="0">
                <a:solidFill>
                  <a:srgbClr val="A1741F"/>
                </a:solidFill>
                <a:latin typeface="Calibri" pitchFamily="34" charset="0"/>
                <a:ea typeface="Calibri" pitchFamily="34" charset="-122"/>
                <a:cs typeface="Calibri" pitchFamily="34" charset="-120"/>
              </a:rPr>
              <a:t>THE DESCENDING COLUMN</a:t>
            </a:r>
            <a:endParaRPr lang="en-US" sz="1050" dirty="0"/>
          </a:p>
        </p:txBody>
      </p:sp>
      <p:sp>
        <p:nvSpPr>
          <p:cNvPr id="5" name="Text 3"/>
          <p:cNvSpPr txBox="1"/>
          <p:nvPr/>
        </p:nvSpPr>
        <p:spPr>
          <a:xfrm>
            <a:off x="1325880" y="658368"/>
            <a:ext cx="10424160" cy="731520"/>
          </a:xfrm>
          <a:prstGeom prst="rect">
            <a:avLst/>
          </a:prstGeom>
          <a:noFill/>
          <a:ln/>
        </p:spPr>
        <p:txBody>
          <a:bodyPr wrap="square" lIns="0" tIns="0" rIns="0" bIns="0" rtlCol="0" anchor="ctr"/>
          <a:lstStyle/>
          <a:p>
            <a:pPr indent="0" marL="0">
              <a:buNone/>
            </a:pPr>
            <a:r>
              <a:rPr lang="en-US" sz="3300" b="1" dirty="0">
                <a:solidFill>
                  <a:srgbClr val="1A1E18"/>
                </a:solidFill>
                <a:latin typeface="Cambria" pitchFamily="34" charset="0"/>
                <a:ea typeface="Cambria" pitchFamily="34" charset="-122"/>
                <a:cs typeface="Cambria" pitchFamily="34" charset="-120"/>
              </a:rPr>
              <a:t>Everything becomes direction</a:t>
            </a:r>
            <a:endParaRPr lang="en-US" sz="3300" dirty="0"/>
          </a:p>
        </p:txBody>
      </p:sp>
      <p:sp>
        <p:nvSpPr>
          <p:cNvPr id="6" name="Text 4"/>
          <p:cNvSpPr txBox="1"/>
          <p:nvPr/>
        </p:nvSpPr>
        <p:spPr>
          <a:xfrm>
            <a:off x="594360" y="1874520"/>
            <a:ext cx="5760720" cy="3017520"/>
          </a:xfrm>
          <a:prstGeom prst="rect">
            <a:avLst/>
          </a:prstGeom>
          <a:noFill/>
          <a:ln/>
        </p:spPr>
        <p:txBody>
          <a:bodyPr wrap="square" lIns="0" tIns="0" rIns="0" bIns="0" rtlCol="0" anchor="t"/>
          <a:lstStyle/>
          <a:p>
            <a:pPr indent="0" marL="0">
              <a:lnSpc>
                <a:spcPts val="2200"/>
              </a:lnSpc>
              <a:buNone/>
            </a:pPr>
            <a:r>
              <a:rPr lang="en-US" sz="1450" dirty="0">
                <a:solidFill>
                  <a:srgbClr val="2B2F29"/>
                </a:solidFill>
                <a:latin typeface="Calibri" pitchFamily="34" charset="0"/>
                <a:ea typeface="Calibri" pitchFamily="34" charset="-122"/>
                <a:cs typeface="Calibri" pitchFamily="34" charset="-120"/>
              </a:rPr>
              <a:t>Below that first grid the page runs a sequence — one small board, then another, then another, each filling with arrows. Up, down, up. The pieces have gone; what is left on each square is which way it is being pushed, and by whom.</a:t>
            </a:r>
            <a:endParaRPr lang="en-US" sz="1450" dirty="0"/>
          </a:p>
          <a:p>
            <a:pPr indent="0" marL="0">
              <a:lnSpc>
                <a:spcPts val="2200"/>
              </a:lnSpc>
              <a:buNone/>
            </a:pPr>
            <a:endParaRPr lang="en-US" sz="1450" dirty="0"/>
          </a:p>
          <a:p>
            <a:pPr indent="0" marL="0">
              <a:lnSpc>
                <a:spcPts val="2200"/>
              </a:lnSpc>
              <a:buNone/>
            </a:pPr>
            <a:r>
              <a:rPr lang="en-US" sz="1450" dirty="0">
                <a:solidFill>
                  <a:srgbClr val="2B2F29"/>
                </a:solidFill>
                <a:latin typeface="Calibri" pitchFamily="34" charset="0"/>
                <a:ea typeface="Calibri" pitchFamily="34" charset="-122"/>
                <a:cs typeface="Calibri" pitchFamily="34" charset="-120"/>
              </a:rPr>
              <a:t>This is the single most repeated image on the sheet. Whatever else the author was chasing, they kept coming back to a board of arrows.</a:t>
            </a:r>
            <a:endParaRPr lang="en-US" sz="1450" dirty="0"/>
          </a:p>
        </p:txBody>
      </p:sp>
      <p:pic>
        <p:nvPicPr>
          <p:cNvPr id="7" name="Image 0" descr="/tmp/claude-0/-home-user-BlockChess/1e087d2d-a6f1-50dc-b90d-a89667dace2e/scratchpad/deck/03-start-arrows.png">    </p:cNvPr>
          <p:cNvPicPr>
            <a:picLocks noChangeAspect="1"/>
          </p:cNvPicPr>
          <p:nvPr/>
        </p:nvPicPr>
        <p:blipFill>
          <a:blip r:embed="rId1"/>
          <a:stretch>
            <a:fillRect/>
          </a:stretch>
        </p:blipFill>
        <p:spPr>
          <a:xfrm>
            <a:off x="6537960" y="1783080"/>
            <a:ext cx="3977640" cy="3977640"/>
          </a:xfrm>
          <a:prstGeom prst="rect">
            <a:avLst/>
          </a:prstGeom>
        </p:spPr>
      </p:pic>
      <p:sp>
        <p:nvSpPr>
          <p:cNvPr id="8" name="Shape 5"/>
          <p:cNvSpPr/>
          <p:nvPr/>
        </p:nvSpPr>
        <p:spPr>
          <a:xfrm>
            <a:off x="6537960" y="1783080"/>
            <a:ext cx="3977640" cy="3977640"/>
          </a:xfrm>
          <a:prstGeom prst="rect">
            <a:avLst/>
          </a:prstGeom>
          <a:solidFill>
            <a:srgbClr val="FFFFFF">
              <a:alpha val="0"/>
            </a:srgbClr>
          </a:solidFill>
          <a:ln w="9525">
            <a:solidFill>
              <a:srgbClr val="D8D5CB"/>
            </a:solidFill>
            <a:prstDash val="solid"/>
          </a:ln>
        </p:spPr>
      </p:sp>
      <p:sp>
        <p:nvSpPr>
          <p:cNvPr id="9" name="Text 6"/>
          <p:cNvSpPr txBox="1"/>
          <p:nvPr/>
        </p:nvSpPr>
        <p:spPr>
          <a:xfrm>
            <a:off x="594360" y="5029200"/>
            <a:ext cx="5760720" cy="457200"/>
          </a:xfrm>
          <a:prstGeom prst="rect">
            <a:avLst/>
          </a:prstGeom>
          <a:noFill/>
          <a:ln/>
        </p:spPr>
        <p:txBody>
          <a:bodyPr wrap="square" lIns="0" tIns="0" rIns="0" bIns="0" rtlCol="0" anchor="ctr"/>
          <a:lstStyle/>
          <a:p>
            <a:pPr indent="0" marL="0">
              <a:buNone/>
            </a:pPr>
            <a:r>
              <a:rPr lang="en-US" sz="1050" i="1" dirty="0">
                <a:solidFill>
                  <a:srgbClr val="6E7268"/>
                </a:solidFill>
                <a:latin typeface="Calibri" pitchFamily="34" charset="0"/>
                <a:ea typeface="Calibri" pitchFamily="34" charset="-122"/>
                <a:cs typeface="Calibri" pitchFamily="34" charset="-120"/>
              </a:rPr>
              <a:t>The same opening position with the pieces removed entirely — each square carrying only the resultant of the attacks landing on it.</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94360" y="566928"/>
            <a:ext cx="566928" cy="566928"/>
          </a:xfrm>
          <a:prstGeom prst="ellipse">
            <a:avLst/>
          </a:prstGeom>
          <a:solidFill>
            <a:srgbClr val="A1741F"/>
          </a:solidFill>
          <a:ln/>
        </p:spPr>
      </p:sp>
      <p:sp>
        <p:nvSpPr>
          <p:cNvPr id="3" name="Text 1"/>
          <p:cNvSpPr txBox="1"/>
          <p:nvPr/>
        </p:nvSpPr>
        <p:spPr>
          <a:xfrm>
            <a:off x="594360" y="566928"/>
            <a:ext cx="566928" cy="56692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03</a:t>
            </a:r>
            <a:endParaRPr lang="en-US" sz="1500" dirty="0"/>
          </a:p>
        </p:txBody>
      </p:sp>
      <p:sp>
        <p:nvSpPr>
          <p:cNvPr id="4" name="Text 2"/>
          <p:cNvSpPr txBox="1"/>
          <p:nvPr/>
        </p:nvSpPr>
        <p:spPr>
          <a:xfrm>
            <a:off x="1325880" y="402336"/>
            <a:ext cx="10058400" cy="237744"/>
          </a:xfrm>
          <a:prstGeom prst="rect">
            <a:avLst/>
          </a:prstGeom>
          <a:noFill/>
          <a:ln/>
        </p:spPr>
        <p:txBody>
          <a:bodyPr wrap="square" lIns="0" tIns="0" rIns="0" bIns="0" rtlCol="0" anchor="ctr"/>
          <a:lstStyle/>
          <a:p>
            <a:pPr indent="0" marL="0">
              <a:buNone/>
            </a:pPr>
            <a:r>
              <a:rPr lang="en-US" sz="1050" b="1" spc="240" kern="0" dirty="0">
                <a:solidFill>
                  <a:srgbClr val="A1741F"/>
                </a:solidFill>
                <a:latin typeface="Calibri" pitchFamily="34" charset="0"/>
                <a:ea typeface="Calibri" pitchFamily="34" charset="-122"/>
                <a:cs typeface="Calibri" pitchFamily="34" charset="-120"/>
              </a:rPr>
              <a:t>CENTRE OF THE PAGE</a:t>
            </a:r>
            <a:endParaRPr lang="en-US" sz="1050" dirty="0"/>
          </a:p>
        </p:txBody>
      </p:sp>
      <p:sp>
        <p:nvSpPr>
          <p:cNvPr id="5" name="Text 3"/>
          <p:cNvSpPr txBox="1"/>
          <p:nvPr/>
        </p:nvSpPr>
        <p:spPr>
          <a:xfrm>
            <a:off x="1325880" y="658368"/>
            <a:ext cx="10424160" cy="731520"/>
          </a:xfrm>
          <a:prstGeom prst="rect">
            <a:avLst/>
          </a:prstGeom>
          <a:noFill/>
          <a:ln/>
        </p:spPr>
        <p:txBody>
          <a:bodyPr wrap="square" lIns="0" tIns="0" rIns="0" bIns="0" rtlCol="0" anchor="ctr"/>
          <a:lstStyle/>
          <a:p>
            <a:pPr indent="0" marL="0">
              <a:buNone/>
            </a:pPr>
            <a:r>
              <a:rPr lang="en-US" sz="3300" b="1" dirty="0">
                <a:solidFill>
                  <a:srgbClr val="1A1E18"/>
                </a:solidFill>
                <a:latin typeface="Cambria" pitchFamily="34" charset="0"/>
                <a:ea typeface="Cambria" pitchFamily="34" charset="-122"/>
                <a:cs typeface="Cambria" pitchFamily="34" charset="-120"/>
              </a:rPr>
              <a:t>Cover, and vision</a:t>
            </a:r>
            <a:endParaRPr lang="en-US" sz="3300" dirty="0"/>
          </a:p>
        </p:txBody>
      </p:sp>
      <p:pic>
        <p:nvPicPr>
          <p:cNvPr id="6" name="Image 0" descr="/tmp/claude-0/-home-user-BlockChess/1e087d2d-a6f1-50dc-b90d-a89667dace2e/scratchpad/deck/04-start-vision.png">    </p:cNvPr>
          <p:cNvPicPr>
            <a:picLocks noChangeAspect="1"/>
          </p:cNvPicPr>
          <p:nvPr/>
        </p:nvPicPr>
        <p:blipFill>
          <a:blip r:embed="rId1"/>
          <a:stretch>
            <a:fillRect/>
          </a:stretch>
        </p:blipFill>
        <p:spPr>
          <a:xfrm>
            <a:off x="594360" y="1783080"/>
            <a:ext cx="3977640" cy="3977640"/>
          </a:xfrm>
          <a:prstGeom prst="rect">
            <a:avLst/>
          </a:prstGeom>
        </p:spPr>
      </p:pic>
      <p:sp>
        <p:nvSpPr>
          <p:cNvPr id="7" name="Shape 4"/>
          <p:cNvSpPr/>
          <p:nvPr/>
        </p:nvSpPr>
        <p:spPr>
          <a:xfrm>
            <a:off x="594360" y="1783080"/>
            <a:ext cx="3977640" cy="3977640"/>
          </a:xfrm>
          <a:prstGeom prst="rect">
            <a:avLst/>
          </a:prstGeom>
          <a:solidFill>
            <a:srgbClr val="FFFFFF">
              <a:alpha val="0"/>
            </a:srgbClr>
          </a:solidFill>
          <a:ln w="9525">
            <a:solidFill>
              <a:srgbClr val="D8D5CB"/>
            </a:solidFill>
            <a:prstDash val="solid"/>
          </a:ln>
        </p:spPr>
      </p:sp>
      <p:sp>
        <p:nvSpPr>
          <p:cNvPr id="8" name="Text 5"/>
          <p:cNvSpPr txBox="1"/>
          <p:nvPr/>
        </p:nvSpPr>
        <p:spPr>
          <a:xfrm>
            <a:off x="4983480" y="1874520"/>
            <a:ext cx="6583680" cy="3291840"/>
          </a:xfrm>
          <a:prstGeom prst="rect">
            <a:avLst/>
          </a:prstGeom>
          <a:noFill/>
          <a:ln/>
        </p:spPr>
        <p:txBody>
          <a:bodyPr wrap="square" lIns="0" tIns="0" rIns="0" bIns="0" rtlCol="0" anchor="t"/>
          <a:lstStyle/>
          <a:p>
            <a:pPr indent="0" marL="0">
              <a:lnSpc>
                <a:spcPts val="2200"/>
              </a:lnSpc>
              <a:buNone/>
            </a:pPr>
            <a:r>
              <a:rPr lang="en-US" sz="1450" dirty="0">
                <a:solidFill>
                  <a:srgbClr val="2B2F29"/>
                </a:solidFill>
                <a:latin typeface="Calibri" pitchFamily="34" charset="0"/>
                <a:ea typeface="Calibri" pitchFamily="34" charset="-122"/>
                <a:cs typeface="Calibri" pitchFamily="34" charset="-120"/>
              </a:rPr>
              <a:t>Two words appear here. Cover sits beside a grid ruled with long diagonals — lines drawn straight through the board rather than square by square. Vision is written under an arrow pointing up, next to the same kind of drawing.</a:t>
            </a:r>
            <a:endParaRPr lang="en-US" sz="1450" dirty="0"/>
          </a:p>
          <a:p>
            <a:pPr indent="0" marL="0">
              <a:lnSpc>
                <a:spcPts val="2200"/>
              </a:lnSpc>
              <a:buNone/>
            </a:pPr>
            <a:endParaRPr lang="en-US" sz="1450" dirty="0"/>
          </a:p>
          <a:p>
            <a:pPr indent="0" marL="0">
              <a:lnSpc>
                <a:spcPts val="2200"/>
              </a:lnSpc>
              <a:buNone/>
            </a:pPr>
            <a:r>
              <a:rPr lang="en-US" sz="1450" dirty="0">
                <a:solidFill>
                  <a:srgbClr val="2B2F29"/>
                </a:solidFill>
                <a:latin typeface="Calibri" pitchFamily="34" charset="0"/>
                <a:ea typeface="Calibri" pitchFamily="34" charset="-122"/>
                <a:cs typeface="Calibri" pitchFamily="34" charset="-120"/>
              </a:rPr>
              <a:t>The distinction looks deliberate: cover is what you hold, vision is how far you can see. A border is not built where pieces stand. It is built where they look.</a:t>
            </a:r>
            <a:endParaRPr lang="en-US" sz="1450" dirty="0"/>
          </a:p>
        </p:txBody>
      </p:sp>
      <p:sp>
        <p:nvSpPr>
          <p:cNvPr id="9" name="Text 6"/>
          <p:cNvSpPr txBox="1"/>
          <p:nvPr/>
        </p:nvSpPr>
        <p:spPr>
          <a:xfrm>
            <a:off x="4983480" y="5257800"/>
            <a:ext cx="6400800" cy="457200"/>
          </a:xfrm>
          <a:prstGeom prst="rect">
            <a:avLst/>
          </a:prstGeom>
          <a:noFill/>
          <a:ln/>
        </p:spPr>
        <p:txBody>
          <a:bodyPr wrap="square" lIns="0" tIns="0" rIns="0" bIns="0" rtlCol="0" anchor="ctr"/>
          <a:lstStyle/>
          <a:p>
            <a:pPr indent="0" marL="0">
              <a:buNone/>
            </a:pPr>
            <a:r>
              <a:rPr lang="en-US" sz="1050" i="1" dirty="0">
                <a:solidFill>
                  <a:srgbClr val="6E7268"/>
                </a:solidFill>
                <a:latin typeface="Calibri" pitchFamily="34" charset="0"/>
                <a:ea typeface="Calibri" pitchFamily="34" charset="-122"/>
                <a:cs typeface="Calibri" pitchFamily="34" charset="-120"/>
              </a:rPr>
              <a:t>Every line the long pieces see down, drawn to where it stops.</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94360" y="566928"/>
            <a:ext cx="566928" cy="566928"/>
          </a:xfrm>
          <a:prstGeom prst="ellipse">
            <a:avLst/>
          </a:prstGeom>
          <a:solidFill>
            <a:srgbClr val="A1741F"/>
          </a:solidFill>
          <a:ln/>
        </p:spPr>
      </p:sp>
      <p:sp>
        <p:nvSpPr>
          <p:cNvPr id="3" name="Text 1"/>
          <p:cNvSpPr txBox="1"/>
          <p:nvPr/>
        </p:nvSpPr>
        <p:spPr>
          <a:xfrm>
            <a:off x="594360" y="566928"/>
            <a:ext cx="566928" cy="56692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04</a:t>
            </a:r>
            <a:endParaRPr lang="en-US" sz="1500" dirty="0"/>
          </a:p>
        </p:txBody>
      </p:sp>
      <p:sp>
        <p:nvSpPr>
          <p:cNvPr id="4" name="Text 2"/>
          <p:cNvSpPr txBox="1"/>
          <p:nvPr/>
        </p:nvSpPr>
        <p:spPr>
          <a:xfrm>
            <a:off x="1325880" y="402336"/>
            <a:ext cx="10058400" cy="237744"/>
          </a:xfrm>
          <a:prstGeom prst="rect">
            <a:avLst/>
          </a:prstGeom>
          <a:noFill/>
          <a:ln/>
        </p:spPr>
        <p:txBody>
          <a:bodyPr wrap="square" lIns="0" tIns="0" rIns="0" bIns="0" rtlCol="0" anchor="ctr"/>
          <a:lstStyle/>
          <a:p>
            <a:pPr indent="0" marL="0">
              <a:buNone/>
            </a:pPr>
            <a:r>
              <a:rPr lang="en-US" sz="1050" b="1" spc="240" kern="0" dirty="0">
                <a:solidFill>
                  <a:srgbClr val="A1741F"/>
                </a:solidFill>
                <a:latin typeface="Calibri" pitchFamily="34" charset="0"/>
                <a:ea typeface="Calibri" pitchFamily="34" charset="-122"/>
                <a:cs typeface="Calibri" pitchFamily="34" charset="-120"/>
              </a:rPr>
              <a:t>TOP RIGHT, AND THE MARGIN</a:t>
            </a:r>
            <a:endParaRPr lang="en-US" sz="1050" dirty="0"/>
          </a:p>
        </p:txBody>
      </p:sp>
      <p:sp>
        <p:nvSpPr>
          <p:cNvPr id="5" name="Text 3"/>
          <p:cNvSpPr txBox="1"/>
          <p:nvPr/>
        </p:nvSpPr>
        <p:spPr>
          <a:xfrm>
            <a:off x="1325880" y="658368"/>
            <a:ext cx="10424160" cy="731520"/>
          </a:xfrm>
          <a:prstGeom prst="rect">
            <a:avLst/>
          </a:prstGeom>
          <a:noFill/>
          <a:ln/>
        </p:spPr>
        <p:txBody>
          <a:bodyPr wrap="square" lIns="0" tIns="0" rIns="0" bIns="0" rtlCol="0" anchor="ctr"/>
          <a:lstStyle/>
          <a:p>
            <a:pPr indent="0" marL="0">
              <a:buNone/>
            </a:pPr>
            <a:r>
              <a:rPr lang="en-US" sz="3300" b="1" dirty="0">
                <a:solidFill>
                  <a:srgbClr val="1A1E18"/>
                </a:solidFill>
                <a:latin typeface="Cambria" pitchFamily="34" charset="0"/>
                <a:ea typeface="Cambria" pitchFamily="34" charset="-122"/>
                <a:cs typeface="Cambria" pitchFamily="34" charset="-120"/>
              </a:rPr>
              <a:t>An alphabet, and a key to it</a:t>
            </a:r>
            <a:endParaRPr lang="en-US" sz="3300" dirty="0"/>
          </a:p>
        </p:txBody>
      </p:sp>
      <p:sp>
        <p:nvSpPr>
          <p:cNvPr id="6" name="Text 4"/>
          <p:cNvSpPr txBox="1"/>
          <p:nvPr/>
        </p:nvSpPr>
        <p:spPr>
          <a:xfrm>
            <a:off x="594360" y="1874520"/>
            <a:ext cx="5486400" cy="3291840"/>
          </a:xfrm>
          <a:prstGeom prst="rect">
            <a:avLst/>
          </a:prstGeom>
          <a:noFill/>
          <a:ln/>
        </p:spPr>
        <p:txBody>
          <a:bodyPr wrap="square" lIns="0" tIns="0" rIns="0" bIns="0" rtlCol="0" anchor="t"/>
          <a:lstStyle/>
          <a:p>
            <a:pPr indent="0" marL="0">
              <a:lnSpc>
                <a:spcPts val="2200"/>
              </a:lnSpc>
              <a:buNone/>
            </a:pPr>
            <a:r>
              <a:rPr lang="en-US" sz="1450" dirty="0">
                <a:solidFill>
                  <a:srgbClr val="2B2F29"/>
                </a:solidFill>
                <a:latin typeface="Calibri" pitchFamily="34" charset="0"/>
                <a:ea typeface="Calibri" pitchFamily="34" charset="-122"/>
                <a:cs typeface="Calibri" pitchFamily="34" charset="-120"/>
              </a:rPr>
              <a:t>The largest board on the page is labelled Start. Its back ranks are filled not with pieces but with invented glyphs, and beneath each pawn is a single arrow — the piece replaced by its move.</a:t>
            </a:r>
            <a:endParaRPr lang="en-US" sz="1450" dirty="0"/>
          </a:p>
          <a:p>
            <a:pPr indent="0" marL="0">
              <a:lnSpc>
                <a:spcPts val="2200"/>
              </a:lnSpc>
              <a:buNone/>
            </a:pPr>
            <a:endParaRPr lang="en-US" sz="1450" dirty="0"/>
          </a:p>
          <a:p>
            <a:pPr indent="0" marL="0">
              <a:lnSpc>
                <a:spcPts val="2200"/>
              </a:lnSpc>
              <a:buNone/>
            </a:pPr>
            <a:r>
              <a:rPr lang="en-US" sz="1450" dirty="0">
                <a:solidFill>
                  <a:srgbClr val="2B2F29"/>
                </a:solidFill>
                <a:latin typeface="Calibri" pitchFamily="34" charset="0"/>
                <a:ea typeface="Calibri" pitchFamily="34" charset="-122"/>
                <a:cs typeface="Calibri" pitchFamily="34" charset="-120"/>
              </a:rPr>
              <a:t>In the right margin sits a key: a numeral, an arrow, and a glyph it becomes. This is a working substitution table. The author was not sketching. They were compiling.</a:t>
            </a:r>
            <a:endParaRPr lang="en-US" sz="1450" dirty="0"/>
          </a:p>
        </p:txBody>
      </p:sp>
      <p:pic>
        <p:nvPicPr>
          <p:cNvPr id="7" name="Image 0" descr="/tmp/claude-0/-home-user-BlockChess/1e087d2d-a6f1-50dc-b90d-a89667dace2e/scratchpad/deck/02-start-numbers.png">    </p:cNvPr>
          <p:cNvPicPr>
            <a:picLocks noChangeAspect="1"/>
          </p:cNvPicPr>
          <p:nvPr/>
        </p:nvPicPr>
        <p:blipFill>
          <a:blip r:embed="rId1"/>
          <a:stretch>
            <a:fillRect/>
          </a:stretch>
        </p:blipFill>
        <p:spPr>
          <a:xfrm>
            <a:off x="6309360" y="1737360"/>
            <a:ext cx="4114800" cy="4114800"/>
          </a:xfrm>
          <a:prstGeom prst="rect">
            <a:avLst/>
          </a:prstGeom>
        </p:spPr>
      </p:pic>
      <p:sp>
        <p:nvSpPr>
          <p:cNvPr id="8" name="Shape 5"/>
          <p:cNvSpPr/>
          <p:nvPr/>
        </p:nvSpPr>
        <p:spPr>
          <a:xfrm>
            <a:off x="6309360" y="1737360"/>
            <a:ext cx="4114800" cy="4114800"/>
          </a:xfrm>
          <a:prstGeom prst="rect">
            <a:avLst/>
          </a:prstGeom>
          <a:solidFill>
            <a:srgbClr val="FFFFFF">
              <a:alpha val="0"/>
            </a:srgbClr>
          </a:solidFill>
          <a:ln w="9525">
            <a:solidFill>
              <a:srgbClr val="D8D5CB"/>
            </a:solidFill>
            <a:prstDash val="solid"/>
          </a:ln>
        </p:spPr>
      </p:sp>
      <p:sp>
        <p:nvSpPr>
          <p:cNvPr id="9" name="Text 6"/>
          <p:cNvSpPr txBox="1"/>
          <p:nvPr/>
        </p:nvSpPr>
        <p:spPr>
          <a:xfrm>
            <a:off x="6309360" y="5989320"/>
            <a:ext cx="4846320" cy="457200"/>
          </a:xfrm>
          <a:prstGeom prst="rect">
            <a:avLst/>
          </a:prstGeom>
          <a:noFill/>
          <a:ln/>
        </p:spPr>
        <p:txBody>
          <a:bodyPr wrap="square" lIns="0" tIns="0" rIns="0" bIns="0" rtlCol="0" anchor="ctr"/>
          <a:lstStyle/>
          <a:p>
            <a:pPr indent="0" marL="0">
              <a:buNone/>
            </a:pPr>
            <a:r>
              <a:rPr lang="en-US" sz="1050" i="1" dirty="0">
                <a:solidFill>
                  <a:srgbClr val="6E7268"/>
                </a:solidFill>
                <a:latin typeface="Calibri" pitchFamily="34" charset="0"/>
                <a:ea typeface="Calibri" pitchFamily="34" charset="-122"/>
                <a:cs typeface="Calibri" pitchFamily="34" charset="-120"/>
              </a:rPr>
              <a:t>Each square as a signed count — the machine equivalent of the glyph the page assigns it.</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94360" y="566928"/>
            <a:ext cx="566928" cy="566928"/>
          </a:xfrm>
          <a:prstGeom prst="ellipse">
            <a:avLst/>
          </a:prstGeom>
          <a:solidFill>
            <a:srgbClr val="A1741F"/>
          </a:solidFill>
          <a:ln/>
        </p:spPr>
      </p:sp>
      <p:sp>
        <p:nvSpPr>
          <p:cNvPr id="3" name="Text 1"/>
          <p:cNvSpPr txBox="1"/>
          <p:nvPr/>
        </p:nvSpPr>
        <p:spPr>
          <a:xfrm>
            <a:off x="594360" y="566928"/>
            <a:ext cx="566928" cy="56692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05</a:t>
            </a:r>
            <a:endParaRPr lang="en-US" sz="1500" dirty="0"/>
          </a:p>
        </p:txBody>
      </p:sp>
      <p:sp>
        <p:nvSpPr>
          <p:cNvPr id="4" name="Text 2"/>
          <p:cNvSpPr txBox="1"/>
          <p:nvPr/>
        </p:nvSpPr>
        <p:spPr>
          <a:xfrm>
            <a:off x="1325880" y="402336"/>
            <a:ext cx="10058400" cy="237744"/>
          </a:xfrm>
          <a:prstGeom prst="rect">
            <a:avLst/>
          </a:prstGeom>
          <a:noFill/>
          <a:ln/>
        </p:spPr>
        <p:txBody>
          <a:bodyPr wrap="square" lIns="0" tIns="0" rIns="0" bIns="0" rtlCol="0" anchor="ctr"/>
          <a:lstStyle/>
          <a:p>
            <a:pPr indent="0" marL="0">
              <a:buNone/>
            </a:pPr>
            <a:r>
              <a:rPr lang="en-US" sz="1050" b="1" spc="240" kern="0" dirty="0">
                <a:solidFill>
                  <a:srgbClr val="A1741F"/>
                </a:solidFill>
                <a:latin typeface="Calibri" pitchFamily="34" charset="0"/>
                <a:ea typeface="Calibri" pitchFamily="34" charset="-122"/>
                <a:cs typeface="Calibri" pitchFamily="34" charset="-120"/>
              </a:rPr>
              <a:t>MIDDLE BAND</a:t>
            </a:r>
            <a:endParaRPr lang="en-US" sz="1050" dirty="0"/>
          </a:p>
        </p:txBody>
      </p:sp>
      <p:sp>
        <p:nvSpPr>
          <p:cNvPr id="5" name="Text 3"/>
          <p:cNvSpPr txBox="1"/>
          <p:nvPr/>
        </p:nvSpPr>
        <p:spPr>
          <a:xfrm>
            <a:off x="1325880" y="658368"/>
            <a:ext cx="10424160" cy="731520"/>
          </a:xfrm>
          <a:prstGeom prst="rect">
            <a:avLst/>
          </a:prstGeom>
          <a:noFill/>
          <a:ln/>
        </p:spPr>
        <p:txBody>
          <a:bodyPr wrap="square" lIns="0" tIns="0" rIns="0" bIns="0" rtlCol="0" anchor="ctr"/>
          <a:lstStyle/>
          <a:p>
            <a:pPr indent="0" marL="0">
              <a:buNone/>
            </a:pPr>
            <a:r>
              <a:rPr lang="en-US" sz="3300" b="1" dirty="0">
                <a:solidFill>
                  <a:srgbClr val="1A1E18"/>
                </a:solidFill>
                <a:latin typeface="Cambria" pitchFamily="34" charset="0"/>
                <a:ea typeface="Cambria" pitchFamily="34" charset="-122"/>
                <a:cs typeface="Cambria" pitchFamily="34" charset="-120"/>
              </a:rPr>
              <a:t>Three bits, then four</a:t>
            </a:r>
            <a:endParaRPr lang="en-US" sz="3300" dirty="0"/>
          </a:p>
        </p:txBody>
      </p:sp>
      <p:sp>
        <p:nvSpPr>
          <p:cNvPr id="6" name="Text 4"/>
          <p:cNvSpPr txBox="1"/>
          <p:nvPr/>
        </p:nvSpPr>
        <p:spPr>
          <a:xfrm>
            <a:off x="594360" y="1874520"/>
            <a:ext cx="5486400" cy="2880360"/>
          </a:xfrm>
          <a:prstGeom prst="rect">
            <a:avLst/>
          </a:prstGeom>
          <a:noFill/>
          <a:ln/>
        </p:spPr>
        <p:txBody>
          <a:bodyPr wrap="square" lIns="0" tIns="0" rIns="0" bIns="0" rtlCol="0" anchor="t"/>
          <a:lstStyle/>
          <a:p>
            <a:pPr indent="0" marL="0">
              <a:lnSpc>
                <a:spcPts val="2200"/>
              </a:lnSpc>
              <a:buNone/>
            </a:pPr>
            <a:r>
              <a:rPr lang="en-US" sz="1450" dirty="0">
                <a:solidFill>
                  <a:srgbClr val="2B2F29"/>
                </a:solidFill>
                <a:latin typeface="Calibri" pitchFamily="34" charset="0"/>
                <a:ea typeface="Calibri" pitchFamily="34" charset="-122"/>
                <a:cs typeface="Calibri" pitchFamily="34" charset="-120"/>
              </a:rPr>
              <a:t>A bracket over a row of marks reads 3bits. Further down, a second column is annotated 4bit. Both numbers are on the page, written at different moments.</a:t>
            </a:r>
            <a:endParaRPr lang="en-US" sz="1450" dirty="0"/>
          </a:p>
          <a:p>
            <a:pPr indent="0" marL="0">
              <a:lnSpc>
                <a:spcPts val="2200"/>
              </a:lnSpc>
              <a:buNone/>
            </a:pPr>
            <a:endParaRPr lang="en-US" sz="1450" dirty="0"/>
          </a:p>
          <a:p>
            <a:pPr indent="0" marL="0">
              <a:lnSpc>
                <a:spcPts val="2200"/>
              </a:lnSpc>
              <a:buNone/>
            </a:pPr>
            <a:r>
              <a:rPr lang="en-US" sz="1450" dirty="0">
                <a:solidFill>
                  <a:srgbClr val="2B2F29"/>
                </a:solidFill>
                <a:latin typeface="Calibri" pitchFamily="34" charset="0"/>
                <a:ea typeface="Calibri" pitchFamily="34" charset="-122"/>
                <a:cs typeface="Calibri" pitchFamily="34" charset="-120"/>
              </a:rPr>
              <a:t>Eight directions fit in three bits. But a square with no push at all is a ninth symbol — and three bits cannot hold nine. The count has to go to four. Building the encoder ran into that collision from the other direction, about an hour after reading it here.</a:t>
            </a:r>
            <a:endParaRPr lang="en-US" sz="1450" dirty="0"/>
          </a:p>
        </p:txBody>
      </p:sp>
      <p:pic>
        <p:nvPicPr>
          <p:cNvPr id="7" name="Image 0" descr="/tmp/claude-0/-home-user-BlockChess/1e087d2d-a6f1-50dc-b90d-a89667dace2e/scratchpad/deck/09-symbol.png">    </p:cNvPr>
          <p:cNvPicPr>
            <a:picLocks noChangeAspect="1"/>
          </p:cNvPicPr>
          <p:nvPr/>
        </p:nvPicPr>
        <p:blipFill>
          <a:blip r:embed="rId1"/>
          <a:stretch>
            <a:fillRect/>
          </a:stretch>
        </p:blipFill>
        <p:spPr>
          <a:xfrm>
            <a:off x="6309360" y="1737360"/>
            <a:ext cx="4114800" cy="4114800"/>
          </a:xfrm>
          <a:prstGeom prst="rect">
            <a:avLst/>
          </a:prstGeom>
        </p:spPr>
      </p:pic>
      <p:sp>
        <p:nvSpPr>
          <p:cNvPr id="8" name="Shape 5"/>
          <p:cNvSpPr/>
          <p:nvPr/>
        </p:nvSpPr>
        <p:spPr>
          <a:xfrm>
            <a:off x="6309360" y="1737360"/>
            <a:ext cx="4114800" cy="4114800"/>
          </a:xfrm>
          <a:prstGeom prst="rect">
            <a:avLst/>
          </a:prstGeom>
          <a:solidFill>
            <a:srgbClr val="FFFFFF">
              <a:alpha val="0"/>
            </a:srgbClr>
          </a:solidFill>
          <a:ln w="9525">
            <a:solidFill>
              <a:srgbClr val="D8D5CB"/>
            </a:solidFill>
            <a:prstDash val="solid"/>
          </a:ln>
        </p:spPr>
      </p:sp>
      <p:sp>
        <p:nvSpPr>
          <p:cNvPr id="9" name="Shape 6"/>
          <p:cNvSpPr/>
          <p:nvPr/>
        </p:nvSpPr>
        <p:spPr>
          <a:xfrm>
            <a:off x="594360" y="4892040"/>
            <a:ext cx="5486400" cy="1051560"/>
          </a:xfrm>
          <a:prstGeom prst="rect">
            <a:avLst/>
          </a:prstGeom>
          <a:solidFill>
            <a:srgbClr val="F4F3EF"/>
          </a:solidFill>
          <a:ln/>
        </p:spPr>
      </p:sp>
      <p:sp>
        <p:nvSpPr>
          <p:cNvPr id="10" name="Text 7"/>
          <p:cNvSpPr txBox="1"/>
          <p:nvPr/>
        </p:nvSpPr>
        <p:spPr>
          <a:xfrm>
            <a:off x="868680" y="5074920"/>
            <a:ext cx="5120640" cy="685800"/>
          </a:xfrm>
          <a:prstGeom prst="rect">
            <a:avLst/>
          </a:prstGeom>
          <a:noFill/>
          <a:ln/>
        </p:spPr>
        <p:txBody>
          <a:bodyPr wrap="square" lIns="0" tIns="0" rIns="0" bIns="0" rtlCol="0" anchor="ctr"/>
          <a:lstStyle/>
          <a:p>
            <a:pPr indent="0" marL="0">
              <a:buNone/>
            </a:pPr>
            <a:r>
              <a:rPr lang="en-US" sz="2600" b="1" dirty="0">
                <a:solidFill>
                  <a:srgbClr val="A1741F"/>
                </a:solidFill>
                <a:latin typeface="Courier New" pitchFamily="34" charset="0"/>
                <a:ea typeface="Courier New" pitchFamily="34" charset="-122"/>
                <a:cs typeface="Courier New" pitchFamily="34" charset="-120"/>
              </a:rPr>
              <a:t>256 b</a:t>
            </a:r>
            <a:pPr indent="0" marL="0">
              <a:buNone/>
            </a:pPr>
            <a:r>
              <a:rPr lang="en-US" sz="1200" dirty="0">
                <a:solidFill>
                  <a:srgbClr val="6E7268"/>
                </a:solidFill>
                <a:latin typeface="Courier New" pitchFamily="34" charset="0"/>
                <a:ea typeface="Courier New" pitchFamily="34" charset="-122"/>
                <a:cs typeface="Courier New" pitchFamily="34" charset="-120"/>
              </a:rPr>
              <a:t>  raw   →   </a:t>
            </a:r>
            <a:pPr indent="0" marL="0">
              <a:buNone/>
            </a:pPr>
            <a:r>
              <a:rPr lang="en-US" sz="2600" b="1" dirty="0">
                <a:solidFill>
                  <a:srgbClr val="00806F"/>
                </a:solidFill>
                <a:latin typeface="Courier New" pitchFamily="34" charset="0"/>
                <a:ea typeface="Courier New" pitchFamily="34" charset="-122"/>
                <a:cs typeface="Courier New" pitchFamily="34" charset="-120"/>
              </a:rPr>
              <a:t>195 b</a:t>
            </a:r>
            <a:pPr indent="0" marL="0">
              <a:buNone/>
            </a:pPr>
            <a:r>
              <a:rPr lang="en-US" sz="1200" dirty="0">
                <a:solidFill>
                  <a:srgbClr val="6E7268"/>
                </a:solidFill>
                <a:latin typeface="Courier New" pitchFamily="34" charset="0"/>
                <a:ea typeface="Courier New" pitchFamily="34" charset="-122"/>
                <a:cs typeface="Courier New" pitchFamily="34" charset="-120"/>
              </a:rPr>
              <a:t>  entropy-coded</a:t>
            </a:r>
            <a:endParaRPr lang="en-US" sz="2600" dirty="0"/>
          </a:p>
        </p:txBody>
      </p:sp>
      <p:sp>
        <p:nvSpPr>
          <p:cNvPr id="11" name="Text 8"/>
          <p:cNvSpPr txBox="1"/>
          <p:nvPr/>
        </p:nvSpPr>
        <p:spPr>
          <a:xfrm>
            <a:off x="6309360" y="5989320"/>
            <a:ext cx="4846320" cy="457200"/>
          </a:xfrm>
          <a:prstGeom prst="rect">
            <a:avLst/>
          </a:prstGeom>
          <a:noFill/>
          <a:ln/>
        </p:spPr>
        <p:txBody>
          <a:bodyPr wrap="square" lIns="0" tIns="0" rIns="0" bIns="0" rtlCol="0" anchor="ctr"/>
          <a:lstStyle/>
          <a:p>
            <a:pPr indent="0" marL="0">
              <a:buNone/>
            </a:pPr>
            <a:r>
              <a:rPr lang="en-US" sz="1050" i="1" dirty="0">
                <a:solidFill>
                  <a:srgbClr val="6E7268"/>
                </a:solidFill>
                <a:latin typeface="Calibri" pitchFamily="34" charset="0"/>
                <a:ea typeface="Calibri" pitchFamily="34" charset="-122"/>
                <a:cs typeface="Calibri" pitchFamily="34" charset="-120"/>
              </a:rPr>
              <a:t>The whole board as one string, and how much of it is actually saying something.</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94360" y="566928"/>
            <a:ext cx="566928" cy="566928"/>
          </a:xfrm>
          <a:prstGeom prst="ellipse">
            <a:avLst/>
          </a:prstGeom>
          <a:solidFill>
            <a:srgbClr val="A1741F"/>
          </a:solidFill>
          <a:ln/>
        </p:spPr>
      </p:sp>
      <p:sp>
        <p:nvSpPr>
          <p:cNvPr id="3" name="Text 1"/>
          <p:cNvSpPr txBox="1"/>
          <p:nvPr/>
        </p:nvSpPr>
        <p:spPr>
          <a:xfrm>
            <a:off x="594360" y="566928"/>
            <a:ext cx="566928" cy="56692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06</a:t>
            </a:r>
            <a:endParaRPr lang="en-US" sz="1500" dirty="0"/>
          </a:p>
        </p:txBody>
      </p:sp>
      <p:sp>
        <p:nvSpPr>
          <p:cNvPr id="4" name="Text 2"/>
          <p:cNvSpPr txBox="1"/>
          <p:nvPr/>
        </p:nvSpPr>
        <p:spPr>
          <a:xfrm>
            <a:off x="1325880" y="402336"/>
            <a:ext cx="10058400" cy="237744"/>
          </a:xfrm>
          <a:prstGeom prst="rect">
            <a:avLst/>
          </a:prstGeom>
          <a:noFill/>
          <a:ln/>
        </p:spPr>
        <p:txBody>
          <a:bodyPr wrap="square" lIns="0" tIns="0" rIns="0" bIns="0" rtlCol="0" anchor="ctr"/>
          <a:lstStyle/>
          <a:p>
            <a:pPr indent="0" marL="0">
              <a:buNone/>
            </a:pPr>
            <a:r>
              <a:rPr lang="en-US" sz="1050" b="1" spc="240" kern="0" dirty="0">
                <a:solidFill>
                  <a:srgbClr val="A1741F"/>
                </a:solidFill>
                <a:latin typeface="Calibri" pitchFamily="34" charset="0"/>
                <a:ea typeface="Calibri" pitchFamily="34" charset="-122"/>
                <a:cs typeface="Calibri" pitchFamily="34" charset="-120"/>
              </a:rPr>
              <a:t>LOWER THIRD</a:t>
            </a:r>
            <a:endParaRPr lang="en-US" sz="1050" dirty="0"/>
          </a:p>
        </p:txBody>
      </p:sp>
      <p:sp>
        <p:nvSpPr>
          <p:cNvPr id="5" name="Text 3"/>
          <p:cNvSpPr txBox="1"/>
          <p:nvPr/>
        </p:nvSpPr>
        <p:spPr>
          <a:xfrm>
            <a:off x="1325880" y="658368"/>
            <a:ext cx="10424160" cy="731520"/>
          </a:xfrm>
          <a:prstGeom prst="rect">
            <a:avLst/>
          </a:prstGeom>
          <a:noFill/>
          <a:ln/>
        </p:spPr>
        <p:txBody>
          <a:bodyPr wrap="square" lIns="0" tIns="0" rIns="0" bIns="0" rtlCol="0" anchor="ctr"/>
          <a:lstStyle/>
          <a:p>
            <a:pPr indent="0" marL="0">
              <a:buNone/>
            </a:pPr>
            <a:r>
              <a:rPr lang="en-US" sz="3300" b="1" dirty="0">
                <a:solidFill>
                  <a:srgbClr val="1A1E18"/>
                </a:solidFill>
                <a:latin typeface="Cambria" pitchFamily="34" charset="0"/>
                <a:ea typeface="Cambria" pitchFamily="34" charset="-122"/>
                <a:cs typeface="Cambria" pitchFamily="34" charset="-120"/>
              </a:rPr>
              <a:t>Boards, symmetries, and a string of bits</a:t>
            </a:r>
            <a:endParaRPr lang="en-US" sz="3300" dirty="0"/>
          </a:p>
        </p:txBody>
      </p:sp>
      <p:pic>
        <p:nvPicPr>
          <p:cNvPr id="6" name="Image 0" descr="/tmp/claude-0/-home-user-BlockChess/1e087d2d-a6f1-50dc-b90d-a89667dace2e/scratchpad/deck/10-closed.png">    </p:cNvPr>
          <p:cNvPicPr>
            <a:picLocks noChangeAspect="1"/>
          </p:cNvPicPr>
          <p:nvPr/>
        </p:nvPicPr>
        <p:blipFill>
          <a:blip r:embed="rId1"/>
          <a:stretch>
            <a:fillRect/>
          </a:stretch>
        </p:blipFill>
        <p:spPr>
          <a:xfrm>
            <a:off x="594360" y="1783080"/>
            <a:ext cx="3977640" cy="3977640"/>
          </a:xfrm>
          <a:prstGeom prst="rect">
            <a:avLst/>
          </a:prstGeom>
        </p:spPr>
      </p:pic>
      <p:sp>
        <p:nvSpPr>
          <p:cNvPr id="7" name="Shape 4"/>
          <p:cNvSpPr/>
          <p:nvPr/>
        </p:nvSpPr>
        <p:spPr>
          <a:xfrm>
            <a:off x="594360" y="1783080"/>
            <a:ext cx="3977640" cy="3977640"/>
          </a:xfrm>
          <a:prstGeom prst="rect">
            <a:avLst/>
          </a:prstGeom>
          <a:solidFill>
            <a:srgbClr val="FFFFFF">
              <a:alpha val="0"/>
            </a:srgbClr>
          </a:solidFill>
          <a:ln w="9525">
            <a:solidFill>
              <a:srgbClr val="D8D5CB"/>
            </a:solidFill>
            <a:prstDash val="solid"/>
          </a:ln>
        </p:spPr>
      </p:sp>
      <p:sp>
        <p:nvSpPr>
          <p:cNvPr id="8" name="Text 5"/>
          <p:cNvSpPr txBox="1"/>
          <p:nvPr/>
        </p:nvSpPr>
        <p:spPr>
          <a:xfrm>
            <a:off x="4983480" y="1828800"/>
            <a:ext cx="6583680" cy="1371600"/>
          </a:xfrm>
          <a:prstGeom prst="rect">
            <a:avLst/>
          </a:prstGeom>
          <a:noFill/>
          <a:ln/>
        </p:spPr>
        <p:txBody>
          <a:bodyPr wrap="square" lIns="0" tIns="0" rIns="0" bIns="0" rtlCol="0" anchor="ctr"/>
          <a:lstStyle/>
          <a:p>
            <a:pPr indent="0" marL="0">
              <a:lnSpc>
                <a:spcPts val="2100"/>
              </a:lnSpc>
              <a:buNone/>
            </a:pPr>
            <a:r>
              <a:rPr lang="en-US" sz="1400" dirty="0">
                <a:solidFill>
                  <a:srgbClr val="2B2F29"/>
                </a:solidFill>
                <a:latin typeface="Calibri" pitchFamily="34" charset="0"/>
                <a:ea typeface="Calibri" pitchFamily="34" charset="-122"/>
                <a:cs typeface="Calibri" pitchFamily="34" charset="-120"/>
              </a:rPr>
              <a:t>The bottom of the sheet turns taxonomic. A dotted enclosure gathers a crowd of glyphs and is simply labelled Boards. Beside it, a dense woven lattice is labelled Symmetries. A binary string is written out along the margin. Several small boards carry one square filled solid black.</a:t>
            </a:r>
            <a:endParaRPr lang="en-US" sz="1400" dirty="0"/>
          </a:p>
        </p:txBody>
      </p:sp>
      <p:sp>
        <p:nvSpPr>
          <p:cNvPr id="9" name="Shape 6"/>
          <p:cNvSpPr/>
          <p:nvPr/>
        </p:nvSpPr>
        <p:spPr>
          <a:xfrm>
            <a:off x="4983480" y="3429000"/>
            <a:ext cx="3154680" cy="1133856"/>
          </a:xfrm>
          <a:prstGeom prst="rect">
            <a:avLst/>
          </a:prstGeom>
          <a:solidFill>
            <a:srgbClr val="F4F3EF"/>
          </a:solidFill>
          <a:ln/>
        </p:spPr>
      </p:sp>
      <p:sp>
        <p:nvSpPr>
          <p:cNvPr id="10" name="Text 7"/>
          <p:cNvSpPr txBox="1"/>
          <p:nvPr/>
        </p:nvSpPr>
        <p:spPr>
          <a:xfrm>
            <a:off x="5184648" y="3557016"/>
            <a:ext cx="2743200" cy="256032"/>
          </a:xfrm>
          <a:prstGeom prst="rect">
            <a:avLst/>
          </a:prstGeom>
          <a:noFill/>
          <a:ln/>
        </p:spPr>
        <p:txBody>
          <a:bodyPr wrap="square" lIns="0" tIns="0" rIns="0" bIns="0" rtlCol="0" anchor="ctr"/>
          <a:lstStyle/>
          <a:p>
            <a:pPr indent="0" marL="0">
              <a:buNone/>
            </a:pPr>
            <a:r>
              <a:rPr lang="en-US" sz="1250" b="1" dirty="0">
                <a:solidFill>
                  <a:srgbClr val="A1741F"/>
                </a:solidFill>
                <a:latin typeface="Calibri" pitchFamily="34" charset="0"/>
                <a:ea typeface="Calibri" pitchFamily="34" charset="-122"/>
                <a:cs typeface="Calibri" pitchFamily="34" charset="-120"/>
              </a:rPr>
              <a:t>Boards</a:t>
            </a:r>
            <a:endParaRPr lang="en-US" sz="1250" dirty="0"/>
          </a:p>
        </p:txBody>
      </p:sp>
      <p:sp>
        <p:nvSpPr>
          <p:cNvPr id="11" name="Text 8"/>
          <p:cNvSpPr txBox="1"/>
          <p:nvPr/>
        </p:nvSpPr>
        <p:spPr>
          <a:xfrm>
            <a:off x="5184648" y="3840480"/>
            <a:ext cx="2788920" cy="621792"/>
          </a:xfrm>
          <a:prstGeom prst="rect">
            <a:avLst/>
          </a:prstGeom>
          <a:noFill/>
          <a:ln/>
        </p:spPr>
        <p:txBody>
          <a:bodyPr wrap="square" lIns="0" tIns="0" rIns="0" bIns="0" rtlCol="0" anchor="ctr"/>
          <a:lstStyle/>
          <a:p>
            <a:pPr indent="0" marL="0">
              <a:lnSpc>
                <a:spcPts val="1400"/>
              </a:lnSpc>
              <a:buNone/>
            </a:pPr>
            <a:r>
              <a:rPr lang="en-US" sz="1100" dirty="0">
                <a:solidFill>
                  <a:srgbClr val="4A4E47"/>
                </a:solidFill>
                <a:latin typeface="Calibri" pitchFamily="34" charset="0"/>
                <a:ea typeface="Calibri" pitchFamily="34" charset="-122"/>
                <a:cs typeface="Calibri" pitchFamily="34" charset="-120"/>
              </a:rPr>
              <a:t>A set being collected — positions treated as specimens.</a:t>
            </a:r>
            <a:endParaRPr lang="en-US" sz="1100" dirty="0"/>
          </a:p>
        </p:txBody>
      </p:sp>
      <p:sp>
        <p:nvSpPr>
          <p:cNvPr id="12" name="Shape 9"/>
          <p:cNvSpPr/>
          <p:nvPr/>
        </p:nvSpPr>
        <p:spPr>
          <a:xfrm>
            <a:off x="8321040" y="3429000"/>
            <a:ext cx="3154680" cy="1133856"/>
          </a:xfrm>
          <a:prstGeom prst="rect">
            <a:avLst/>
          </a:prstGeom>
          <a:solidFill>
            <a:srgbClr val="F4F3EF"/>
          </a:solidFill>
          <a:ln/>
        </p:spPr>
      </p:sp>
      <p:sp>
        <p:nvSpPr>
          <p:cNvPr id="13" name="Text 10"/>
          <p:cNvSpPr txBox="1"/>
          <p:nvPr/>
        </p:nvSpPr>
        <p:spPr>
          <a:xfrm>
            <a:off x="8522208" y="3557016"/>
            <a:ext cx="2743200" cy="256032"/>
          </a:xfrm>
          <a:prstGeom prst="rect">
            <a:avLst/>
          </a:prstGeom>
          <a:noFill/>
          <a:ln/>
        </p:spPr>
        <p:txBody>
          <a:bodyPr wrap="square" lIns="0" tIns="0" rIns="0" bIns="0" rtlCol="0" anchor="ctr"/>
          <a:lstStyle/>
          <a:p>
            <a:pPr indent="0" marL="0">
              <a:buNone/>
            </a:pPr>
            <a:r>
              <a:rPr lang="en-US" sz="1250" b="1" dirty="0">
                <a:solidFill>
                  <a:srgbClr val="A1741F"/>
                </a:solidFill>
                <a:latin typeface="Calibri" pitchFamily="34" charset="0"/>
                <a:ea typeface="Calibri" pitchFamily="34" charset="-122"/>
                <a:cs typeface="Calibri" pitchFamily="34" charset="-120"/>
              </a:rPr>
              <a:t>Symmetries</a:t>
            </a:r>
            <a:endParaRPr lang="en-US" sz="1250" dirty="0"/>
          </a:p>
        </p:txBody>
      </p:sp>
      <p:sp>
        <p:nvSpPr>
          <p:cNvPr id="14" name="Text 11"/>
          <p:cNvSpPr txBox="1"/>
          <p:nvPr/>
        </p:nvSpPr>
        <p:spPr>
          <a:xfrm>
            <a:off x="8522208" y="3840480"/>
            <a:ext cx="2788920" cy="621792"/>
          </a:xfrm>
          <a:prstGeom prst="rect">
            <a:avLst/>
          </a:prstGeom>
          <a:noFill/>
          <a:ln/>
        </p:spPr>
        <p:txBody>
          <a:bodyPr wrap="square" lIns="0" tIns="0" rIns="0" bIns="0" rtlCol="0" anchor="ctr"/>
          <a:lstStyle/>
          <a:p>
            <a:pPr indent="0" marL="0">
              <a:lnSpc>
                <a:spcPts val="1400"/>
              </a:lnSpc>
              <a:buNone/>
            </a:pPr>
            <a:r>
              <a:rPr lang="en-US" sz="1100" dirty="0">
                <a:solidFill>
                  <a:srgbClr val="4A4E47"/>
                </a:solidFill>
                <a:latin typeface="Calibri" pitchFamily="34" charset="0"/>
                <a:ea typeface="Calibri" pitchFamily="34" charset="-122"/>
                <a:cs typeface="Calibri" pitchFamily="34" charset="-120"/>
              </a:rPr>
              <a:t>Repeated structure, drawn as weave rather than written.</a:t>
            </a:r>
            <a:endParaRPr lang="en-US" sz="1100" dirty="0"/>
          </a:p>
        </p:txBody>
      </p:sp>
      <p:sp>
        <p:nvSpPr>
          <p:cNvPr id="15" name="Shape 12"/>
          <p:cNvSpPr/>
          <p:nvPr/>
        </p:nvSpPr>
        <p:spPr>
          <a:xfrm>
            <a:off x="4983480" y="4727448"/>
            <a:ext cx="3154680" cy="1133856"/>
          </a:xfrm>
          <a:prstGeom prst="rect">
            <a:avLst/>
          </a:prstGeom>
          <a:solidFill>
            <a:srgbClr val="F4F3EF"/>
          </a:solidFill>
          <a:ln/>
        </p:spPr>
      </p:sp>
      <p:sp>
        <p:nvSpPr>
          <p:cNvPr id="16" name="Text 13"/>
          <p:cNvSpPr txBox="1"/>
          <p:nvPr/>
        </p:nvSpPr>
        <p:spPr>
          <a:xfrm>
            <a:off x="5184648" y="4855464"/>
            <a:ext cx="2743200" cy="256032"/>
          </a:xfrm>
          <a:prstGeom prst="rect">
            <a:avLst/>
          </a:prstGeom>
          <a:noFill/>
          <a:ln/>
        </p:spPr>
        <p:txBody>
          <a:bodyPr wrap="square" lIns="0" tIns="0" rIns="0" bIns="0" rtlCol="0" anchor="ctr"/>
          <a:lstStyle/>
          <a:p>
            <a:pPr indent="0" marL="0">
              <a:buNone/>
            </a:pPr>
            <a:r>
              <a:rPr lang="en-US" sz="1250" b="1" dirty="0">
                <a:solidFill>
                  <a:srgbClr val="A1741F"/>
                </a:solidFill>
                <a:latin typeface="Calibri" pitchFamily="34" charset="0"/>
                <a:ea typeface="Calibri" pitchFamily="34" charset="-122"/>
                <a:cs typeface="Calibri" pitchFamily="34" charset="-120"/>
              </a:rPr>
              <a:t>The string</a:t>
            </a:r>
            <a:endParaRPr lang="en-US" sz="1250" dirty="0"/>
          </a:p>
        </p:txBody>
      </p:sp>
      <p:sp>
        <p:nvSpPr>
          <p:cNvPr id="17" name="Text 14"/>
          <p:cNvSpPr txBox="1"/>
          <p:nvPr/>
        </p:nvSpPr>
        <p:spPr>
          <a:xfrm>
            <a:off x="5184648" y="5138928"/>
            <a:ext cx="2788920" cy="621792"/>
          </a:xfrm>
          <a:prstGeom prst="rect">
            <a:avLst/>
          </a:prstGeom>
          <a:noFill/>
          <a:ln/>
        </p:spPr>
        <p:txBody>
          <a:bodyPr wrap="square" lIns="0" tIns="0" rIns="0" bIns="0" rtlCol="0" anchor="ctr"/>
          <a:lstStyle/>
          <a:p>
            <a:pPr indent="0" marL="0">
              <a:lnSpc>
                <a:spcPts val="1400"/>
              </a:lnSpc>
              <a:buNone/>
            </a:pPr>
            <a:r>
              <a:rPr lang="en-US" sz="1100" dirty="0">
                <a:solidFill>
                  <a:srgbClr val="4A4E47"/>
                </a:solidFill>
                <a:latin typeface="Calibri" pitchFamily="34" charset="0"/>
                <a:ea typeface="Calibri" pitchFamily="34" charset="-122"/>
                <a:cs typeface="Calibri" pitchFamily="34" charset="-120"/>
              </a:rPr>
              <a:t>Notation actually executed: a position, encoded.</a:t>
            </a:r>
            <a:endParaRPr lang="en-US" sz="1100" dirty="0"/>
          </a:p>
        </p:txBody>
      </p:sp>
      <p:sp>
        <p:nvSpPr>
          <p:cNvPr id="18" name="Shape 15"/>
          <p:cNvSpPr/>
          <p:nvPr/>
        </p:nvSpPr>
        <p:spPr>
          <a:xfrm>
            <a:off x="8321040" y="4727448"/>
            <a:ext cx="3154680" cy="1133856"/>
          </a:xfrm>
          <a:prstGeom prst="rect">
            <a:avLst/>
          </a:prstGeom>
          <a:solidFill>
            <a:srgbClr val="F4F3EF"/>
          </a:solidFill>
          <a:ln/>
        </p:spPr>
      </p:sp>
      <p:sp>
        <p:nvSpPr>
          <p:cNvPr id="19" name="Text 16"/>
          <p:cNvSpPr txBox="1"/>
          <p:nvPr/>
        </p:nvSpPr>
        <p:spPr>
          <a:xfrm>
            <a:off x="8522208" y="4855464"/>
            <a:ext cx="2743200" cy="256032"/>
          </a:xfrm>
          <a:prstGeom prst="rect">
            <a:avLst/>
          </a:prstGeom>
          <a:noFill/>
          <a:ln/>
        </p:spPr>
        <p:txBody>
          <a:bodyPr wrap="square" lIns="0" tIns="0" rIns="0" bIns="0" rtlCol="0" anchor="ctr"/>
          <a:lstStyle/>
          <a:p>
            <a:pPr indent="0" marL="0">
              <a:buNone/>
            </a:pPr>
            <a:r>
              <a:rPr lang="en-US" sz="1250" b="1" dirty="0">
                <a:solidFill>
                  <a:srgbClr val="AB3B28"/>
                </a:solidFill>
                <a:latin typeface="Calibri" pitchFamily="34" charset="0"/>
                <a:ea typeface="Calibri" pitchFamily="34" charset="-122"/>
                <a:cs typeface="Calibri" pitchFamily="34" charset="-120"/>
              </a:rPr>
              <a:t>Black squares</a:t>
            </a:r>
            <a:endParaRPr lang="en-US" sz="1250" dirty="0"/>
          </a:p>
        </p:txBody>
      </p:sp>
      <p:sp>
        <p:nvSpPr>
          <p:cNvPr id="20" name="Text 17"/>
          <p:cNvSpPr txBox="1"/>
          <p:nvPr/>
        </p:nvSpPr>
        <p:spPr>
          <a:xfrm>
            <a:off x="8522208" y="5138928"/>
            <a:ext cx="2788920" cy="621792"/>
          </a:xfrm>
          <a:prstGeom prst="rect">
            <a:avLst/>
          </a:prstGeom>
          <a:noFill/>
          <a:ln/>
        </p:spPr>
        <p:txBody>
          <a:bodyPr wrap="square" lIns="0" tIns="0" rIns="0" bIns="0" rtlCol="0" anchor="ctr"/>
          <a:lstStyle/>
          <a:p>
            <a:pPr indent="0" marL="0">
              <a:lnSpc>
                <a:spcPts val="1400"/>
              </a:lnSpc>
              <a:buNone/>
            </a:pPr>
            <a:r>
              <a:rPr lang="en-US" sz="1100" dirty="0">
                <a:solidFill>
                  <a:srgbClr val="4A4E47"/>
                </a:solidFill>
                <a:latin typeface="Calibri" pitchFamily="34" charset="0"/>
                <a:ea typeface="Calibri" pitchFamily="34" charset="-122"/>
                <a:cs typeface="Calibri" pitchFamily="34" charset="-120"/>
              </a:rPr>
              <a:t>Unknown. A marked square, a captured piece, a blocked one.</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A1E18"/>
        </a:solidFill>
      </p:bgPr>
    </p:bg>
    <p:spTree>
      <p:nvGrpSpPr>
        <p:cNvPr id="1" name=""/>
        <p:cNvGrpSpPr/>
        <p:nvPr/>
      </p:nvGrpSpPr>
      <p:grpSpPr>
        <a:xfrm>
          <a:off x="0" y="0"/>
          <a:ext cx="0" cy="0"/>
          <a:chOff x="0" y="0"/>
          <a:chExt cx="0" cy="0"/>
        </a:xfrm>
      </p:grpSpPr>
      <p:pic>
        <p:nvPicPr>
          <p:cNvPr id="2" name="Image 0" descr="/tmp/claude-0/-home-user-BlockChess/1e087d2d-a6f1-50dc-b90d-a89667dace2e/scratchpad/deck/05-terr.png">    </p:cNvPr>
          <p:cNvPicPr>
            <a:picLocks noChangeAspect="1"/>
          </p:cNvPicPr>
          <p:nvPr/>
        </p:nvPicPr>
        <p:blipFill>
          <a:blip r:embed="rId1">
            <a:alphaModFix amt="92000"/>
          </a:blip>
          <a:stretch>
            <a:fillRect/>
          </a:stretch>
        </p:blipFill>
        <p:spPr>
          <a:xfrm>
            <a:off x="7406640" y="1051560"/>
            <a:ext cx="4206240" cy="4206240"/>
          </a:xfrm>
          <a:prstGeom prst="rect">
            <a:avLst/>
          </a:prstGeom>
        </p:spPr>
      </p:pic>
      <p:sp>
        <p:nvSpPr>
          <p:cNvPr id="3" name="Shape 0"/>
          <p:cNvSpPr/>
          <p:nvPr/>
        </p:nvSpPr>
        <p:spPr>
          <a:xfrm>
            <a:off x="7406640" y="1051560"/>
            <a:ext cx="4206240" cy="4206240"/>
          </a:xfrm>
          <a:prstGeom prst="rect">
            <a:avLst/>
          </a:prstGeom>
          <a:solidFill>
            <a:srgbClr val="FFFFFF">
              <a:alpha val="0"/>
            </a:srgbClr>
          </a:solidFill>
          <a:ln w="9525">
            <a:solidFill>
              <a:srgbClr val="D8D5CB"/>
            </a:solidFill>
            <a:prstDash val="solid"/>
          </a:ln>
        </p:spPr>
      </p:sp>
      <p:sp>
        <p:nvSpPr>
          <p:cNvPr id="4" name="Text 1"/>
          <p:cNvSpPr txBox="1"/>
          <p:nvPr/>
        </p:nvSpPr>
        <p:spPr>
          <a:xfrm>
            <a:off x="685800" y="1234440"/>
            <a:ext cx="5486400" cy="274320"/>
          </a:xfrm>
          <a:prstGeom prst="rect">
            <a:avLst/>
          </a:prstGeom>
          <a:noFill/>
          <a:ln/>
        </p:spPr>
        <p:txBody>
          <a:bodyPr wrap="square" lIns="0" tIns="0" rIns="0" bIns="0" rtlCol="0" anchor="ctr"/>
          <a:lstStyle/>
          <a:p>
            <a:pPr indent="0" marL="0">
              <a:buNone/>
            </a:pPr>
            <a:r>
              <a:rPr lang="en-US" sz="1100" b="1" spc="300" kern="0" dirty="0">
                <a:solidFill>
                  <a:srgbClr val="C8912F"/>
                </a:solidFill>
                <a:latin typeface="Calibri" pitchFamily="34" charset="0"/>
                <a:ea typeface="Calibri" pitchFamily="34" charset="-122"/>
                <a:cs typeface="Calibri" pitchFamily="34" charset="-120"/>
              </a:rPr>
              <a:t>THE TURN</a:t>
            </a:r>
            <a:endParaRPr lang="en-US" sz="1100" dirty="0"/>
          </a:p>
        </p:txBody>
      </p:sp>
      <p:sp>
        <p:nvSpPr>
          <p:cNvPr id="5" name="Text 2"/>
          <p:cNvSpPr txBox="1"/>
          <p:nvPr/>
        </p:nvSpPr>
        <p:spPr>
          <a:xfrm>
            <a:off x="658368" y="1691640"/>
            <a:ext cx="6309360" cy="1737360"/>
          </a:xfrm>
          <a:prstGeom prst="rect">
            <a:avLst/>
          </a:prstGeom>
          <a:noFill/>
          <a:ln/>
        </p:spPr>
        <p:txBody>
          <a:bodyPr wrap="square" lIns="0" tIns="0" rIns="0" bIns="0" rtlCol="0" anchor="ctr"/>
          <a:lstStyle/>
          <a:p>
            <a:pPr indent="0" marL="0">
              <a:lnSpc>
                <a:spcPts val="4600"/>
              </a:lnSpc>
              <a:buNone/>
            </a:pPr>
            <a:r>
              <a:rPr lang="en-US" sz="4000" b="1" dirty="0">
                <a:solidFill>
                  <a:srgbClr val="FFFFFF"/>
                </a:solidFill>
                <a:latin typeface="Cambria" pitchFamily="34" charset="0"/>
                <a:ea typeface="Cambria" pitchFamily="34" charset="-122"/>
                <a:cs typeface="Cambria" pitchFamily="34" charset="-120"/>
              </a:rPr>
              <a:t>All of it was reaching for one line.</a:t>
            </a:r>
            <a:endParaRPr lang="en-US" sz="4000" dirty="0"/>
          </a:p>
        </p:txBody>
      </p:sp>
      <p:sp>
        <p:nvSpPr>
          <p:cNvPr id="6" name="Text 3"/>
          <p:cNvSpPr txBox="1"/>
          <p:nvPr/>
        </p:nvSpPr>
        <p:spPr>
          <a:xfrm>
            <a:off x="685800" y="3703320"/>
            <a:ext cx="6035040" cy="2011680"/>
          </a:xfrm>
          <a:prstGeom prst="rect">
            <a:avLst/>
          </a:prstGeom>
          <a:noFill/>
          <a:ln/>
        </p:spPr>
        <p:txBody>
          <a:bodyPr wrap="square" lIns="0" tIns="0" rIns="0" bIns="0" rtlCol="0" anchor="ctr"/>
          <a:lstStyle/>
          <a:p>
            <a:pPr indent="0" marL="0">
              <a:lnSpc>
                <a:spcPts val="2200"/>
              </a:lnSpc>
              <a:buNone/>
            </a:pPr>
            <a:r>
              <a:rPr lang="en-US" sz="1450" dirty="0">
                <a:solidFill>
                  <a:srgbClr val="C9CCC2"/>
                </a:solidFill>
                <a:latin typeface="Calibri" pitchFamily="34" charset="0"/>
                <a:ea typeface="Calibri" pitchFamily="34" charset="-122"/>
                <a:cs typeface="Calibri" pitchFamily="34" charset="-120"/>
              </a:rPr>
              <a:t>Count the attacks on every square, subtract, and the board stops being sixty-four objects and becomes terrain. Brass is ground one side holds; verdigris the other. Where the colour drains out, nobody holds it.</a:t>
            </a:r>
            <a:endParaRPr lang="en-US" sz="1450" dirty="0"/>
          </a:p>
          <a:p>
            <a:pPr indent="0" marL="0">
              <a:lnSpc>
                <a:spcPts val="2200"/>
              </a:lnSpc>
              <a:buNone/>
            </a:pPr>
            <a:endParaRPr lang="en-US" sz="1450" dirty="0"/>
          </a:p>
          <a:p>
            <a:pPr indent="0" marL="0">
              <a:lnSpc>
                <a:spcPts val="2200"/>
              </a:lnSpc>
              <a:buNone/>
            </a:pPr>
            <a:r>
              <a:rPr lang="en-US" sz="1450" dirty="0">
                <a:solidFill>
                  <a:srgbClr val="C9CCC2"/>
                </a:solidFill>
                <a:latin typeface="Calibri" pitchFamily="34" charset="0"/>
                <a:ea typeface="Calibri" pitchFamily="34" charset="-122"/>
                <a:cs typeface="Calibri" pitchFamily="34" charset="-120"/>
              </a:rPr>
              <a:t>That is the page’s destination, and it is computable.</a:t>
            </a:r>
            <a:endParaRPr lang="en-US" sz="14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94360" y="402336"/>
            <a:ext cx="10058400" cy="237744"/>
          </a:xfrm>
          <a:prstGeom prst="rect">
            <a:avLst/>
          </a:prstGeom>
          <a:noFill/>
          <a:ln/>
        </p:spPr>
        <p:txBody>
          <a:bodyPr wrap="square" lIns="0" tIns="0" rIns="0" bIns="0" rtlCol="0" anchor="ctr"/>
          <a:lstStyle/>
          <a:p>
            <a:pPr indent="0" marL="0">
              <a:buNone/>
            </a:pPr>
            <a:r>
              <a:rPr lang="en-US" sz="1050" b="1" spc="240" kern="0" dirty="0">
                <a:solidFill>
                  <a:srgbClr val="A1741F"/>
                </a:solidFill>
                <a:latin typeface="Calibri" pitchFamily="34" charset="0"/>
                <a:ea typeface="Calibri" pitchFamily="34" charset="-122"/>
                <a:cs typeface="Calibri" pitchFamily="34" charset="-120"/>
              </a:rPr>
              <a:t>THE VIEW</a:t>
            </a:r>
            <a:endParaRPr lang="en-US" sz="1050" dirty="0"/>
          </a:p>
        </p:txBody>
      </p:sp>
      <p:sp>
        <p:nvSpPr>
          <p:cNvPr id="3" name="Text 1"/>
          <p:cNvSpPr txBox="1"/>
          <p:nvPr/>
        </p:nvSpPr>
        <p:spPr>
          <a:xfrm>
            <a:off x="594360" y="658368"/>
            <a:ext cx="10424160" cy="731520"/>
          </a:xfrm>
          <a:prstGeom prst="rect">
            <a:avLst/>
          </a:prstGeom>
          <a:noFill/>
          <a:ln/>
        </p:spPr>
        <p:txBody>
          <a:bodyPr wrap="square" lIns="0" tIns="0" rIns="0" bIns="0" rtlCol="0" anchor="ctr"/>
          <a:lstStyle/>
          <a:p>
            <a:pPr indent="0" marL="0">
              <a:buNone/>
            </a:pPr>
            <a:r>
              <a:rPr lang="en-US" sz="3300" b="1" dirty="0">
                <a:solidFill>
                  <a:srgbClr val="1A1E18"/>
                </a:solidFill>
                <a:latin typeface="Cambria" pitchFamily="34" charset="0"/>
                <a:ea typeface="Cambria" pitchFamily="34" charset="-122"/>
                <a:cs typeface="Cambria" pitchFamily="34" charset="-120"/>
              </a:rPr>
              <a:t>The frontier</a:t>
            </a:r>
            <a:endParaRPr lang="en-US" sz="3300" dirty="0"/>
          </a:p>
        </p:txBody>
      </p:sp>
      <p:sp>
        <p:nvSpPr>
          <p:cNvPr id="4" name="Text 2"/>
          <p:cNvSpPr txBox="1"/>
          <p:nvPr/>
        </p:nvSpPr>
        <p:spPr>
          <a:xfrm>
            <a:off x="594360" y="1874520"/>
            <a:ext cx="5486400" cy="2834640"/>
          </a:xfrm>
          <a:prstGeom prst="rect">
            <a:avLst/>
          </a:prstGeom>
          <a:noFill/>
          <a:ln/>
        </p:spPr>
        <p:txBody>
          <a:bodyPr wrap="square" lIns="0" tIns="0" rIns="0" bIns="0" rtlCol="0" anchor="t"/>
          <a:lstStyle/>
          <a:p>
            <a:pPr indent="0" marL="0">
              <a:lnSpc>
                <a:spcPts val="2200"/>
              </a:lnSpc>
              <a:buNone/>
            </a:pPr>
            <a:r>
              <a:rPr lang="en-US" sz="1450" dirty="0">
                <a:solidFill>
                  <a:srgbClr val="2B2F29"/>
                </a:solidFill>
                <a:latin typeface="Calibri" pitchFamily="34" charset="0"/>
                <a:ea typeface="Calibri" pitchFamily="34" charset="-122"/>
                <a:cs typeface="Calibri" pitchFamily="34" charset="-120"/>
              </a:rPr>
              <a:t>One contour matters more than the rest: the line where white’s attacks and black’s exactly cancel. Neither side owns it. It is the border the page kept circling without ever drawing.</a:t>
            </a:r>
            <a:endParaRPr lang="en-US" sz="1450" dirty="0"/>
          </a:p>
          <a:p>
            <a:pPr indent="0" marL="0">
              <a:lnSpc>
                <a:spcPts val="2200"/>
              </a:lnSpc>
              <a:buNone/>
            </a:pPr>
            <a:endParaRPr lang="en-US" sz="1450" dirty="0"/>
          </a:p>
          <a:p>
            <a:pPr indent="0" marL="0">
              <a:lnSpc>
                <a:spcPts val="2200"/>
              </a:lnSpc>
              <a:buNone/>
            </a:pPr>
            <a:r>
              <a:rPr lang="en-US" sz="1450" dirty="0">
                <a:solidFill>
                  <a:srgbClr val="2B2F29"/>
                </a:solidFill>
                <a:latin typeface="Calibri" pitchFamily="34" charset="0"/>
                <a:ea typeface="Calibri" pitchFamily="34" charset="-122"/>
                <a:cs typeface="Calibri" pitchFamily="34" charset="-120"/>
              </a:rPr>
              <a:t>It has a length, and the length is a real number that moves as the game does. A short border is a quiet position. A long, ragged one is a knife fight.</a:t>
            </a:r>
            <a:endParaRPr lang="en-US" sz="1450" dirty="0"/>
          </a:p>
        </p:txBody>
      </p:sp>
      <p:pic>
        <p:nvPicPr>
          <p:cNvPr id="5" name="Image 0" descr="/tmp/claude-0/-home-user-BlockChess/1e087d2d-a6f1-50dc-b90d-a89667dace2e/scratchpad/deck/07-frontier.png">    </p:cNvPr>
          <p:cNvPicPr>
            <a:picLocks noChangeAspect="1"/>
          </p:cNvPicPr>
          <p:nvPr/>
        </p:nvPicPr>
        <p:blipFill>
          <a:blip r:embed="rId1"/>
          <a:stretch>
            <a:fillRect/>
          </a:stretch>
        </p:blipFill>
        <p:spPr>
          <a:xfrm>
            <a:off x="6309360" y="1737360"/>
            <a:ext cx="4114800" cy="4114800"/>
          </a:xfrm>
          <a:prstGeom prst="rect">
            <a:avLst/>
          </a:prstGeom>
        </p:spPr>
      </p:pic>
      <p:sp>
        <p:nvSpPr>
          <p:cNvPr id="6" name="Shape 3"/>
          <p:cNvSpPr/>
          <p:nvPr/>
        </p:nvSpPr>
        <p:spPr>
          <a:xfrm>
            <a:off x="6309360" y="1737360"/>
            <a:ext cx="4114800" cy="4114800"/>
          </a:xfrm>
          <a:prstGeom prst="rect">
            <a:avLst/>
          </a:prstGeom>
          <a:solidFill>
            <a:srgbClr val="FFFFFF">
              <a:alpha val="0"/>
            </a:srgbClr>
          </a:solidFill>
          <a:ln w="9525">
            <a:solidFill>
              <a:srgbClr val="D8D5CB"/>
            </a:solidFill>
            <a:prstDash val="solid"/>
          </a:ln>
        </p:spPr>
      </p:sp>
      <p:sp>
        <p:nvSpPr>
          <p:cNvPr id="7" name="Shape 4"/>
          <p:cNvSpPr/>
          <p:nvPr/>
        </p:nvSpPr>
        <p:spPr>
          <a:xfrm>
            <a:off x="594360" y="4846320"/>
            <a:ext cx="5486400" cy="1005840"/>
          </a:xfrm>
          <a:prstGeom prst="rect">
            <a:avLst/>
          </a:prstGeom>
          <a:solidFill>
            <a:srgbClr val="F4F3EF"/>
          </a:solidFill>
          <a:ln/>
        </p:spPr>
      </p:sp>
      <p:sp>
        <p:nvSpPr>
          <p:cNvPr id="8" name="Text 5"/>
          <p:cNvSpPr txBox="1"/>
          <p:nvPr/>
        </p:nvSpPr>
        <p:spPr>
          <a:xfrm>
            <a:off x="868680" y="5029200"/>
            <a:ext cx="5120640" cy="640080"/>
          </a:xfrm>
          <a:prstGeom prst="rect">
            <a:avLst/>
          </a:prstGeom>
          <a:noFill/>
          <a:ln/>
        </p:spPr>
        <p:txBody>
          <a:bodyPr wrap="square" lIns="0" tIns="0" rIns="0" bIns="0" rtlCol="0" anchor="ctr"/>
          <a:lstStyle/>
          <a:p>
            <a:pPr indent="0" marL="0">
              <a:buNone/>
            </a:pPr>
            <a:r>
              <a:rPr lang="en-US" sz="2700" b="1" dirty="0">
                <a:solidFill>
                  <a:srgbClr val="A1741F"/>
                </a:solidFill>
                <a:latin typeface="Courier New" pitchFamily="34" charset="0"/>
                <a:ea typeface="Courier New" pitchFamily="34" charset="-122"/>
                <a:cs typeface="Courier New" pitchFamily="34" charset="-120"/>
              </a:rPr>
              <a:t>9.5</a:t>
            </a:r>
            <a:pPr indent="0" marL="0">
              <a:buNone/>
            </a:pPr>
            <a:r>
              <a:rPr lang="en-US" sz="1200" dirty="0">
                <a:solidFill>
                  <a:srgbClr val="6E7268"/>
                </a:solidFill>
                <a:latin typeface="Courier New" pitchFamily="34" charset="0"/>
                <a:ea typeface="Courier New" pitchFamily="34" charset="-122"/>
                <a:cs typeface="Courier New" pitchFamily="34" charset="-120"/>
              </a:rPr>
              <a:t>  squares of border in this position</a:t>
            </a:r>
            <a:endParaRPr lang="en-US" sz="2700" dirty="0"/>
          </a:p>
        </p:txBody>
      </p:sp>
      <p:sp>
        <p:nvSpPr>
          <p:cNvPr id="9" name="Text 6"/>
          <p:cNvSpPr txBox="1"/>
          <p:nvPr/>
        </p:nvSpPr>
        <p:spPr>
          <a:xfrm>
            <a:off x="6309360" y="5989320"/>
            <a:ext cx="4846320" cy="457200"/>
          </a:xfrm>
          <a:prstGeom prst="rect">
            <a:avLst/>
          </a:prstGeom>
          <a:noFill/>
          <a:ln/>
        </p:spPr>
        <p:txBody>
          <a:bodyPr wrap="square" lIns="0" tIns="0" rIns="0" bIns="0" rtlCol="0" anchor="ctr"/>
          <a:lstStyle/>
          <a:p>
            <a:pPr indent="0" marL="0">
              <a:buNone/>
            </a:pPr>
            <a:r>
              <a:rPr lang="en-US" sz="1050" i="1" dirty="0">
                <a:solidFill>
                  <a:srgbClr val="6E7268"/>
                </a:solidFill>
                <a:latin typeface="Calibri" pitchFamily="34" charset="0"/>
                <a:ea typeface="Calibri" pitchFamily="34" charset="-122"/>
                <a:cs typeface="Calibri" pitchFamily="34" charset="-120"/>
              </a:rPr>
              <a:t>The zero contour, drawn dashed.</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94360" y="402336"/>
            <a:ext cx="10058400" cy="237744"/>
          </a:xfrm>
          <a:prstGeom prst="rect">
            <a:avLst/>
          </a:prstGeom>
          <a:noFill/>
          <a:ln/>
        </p:spPr>
        <p:txBody>
          <a:bodyPr wrap="square" lIns="0" tIns="0" rIns="0" bIns="0" rtlCol="0" anchor="ctr"/>
          <a:lstStyle/>
          <a:p>
            <a:pPr indent="0" marL="0">
              <a:buNone/>
            </a:pPr>
            <a:r>
              <a:rPr lang="en-US" sz="1050" b="1" spc="240" kern="0" dirty="0">
                <a:solidFill>
                  <a:srgbClr val="A1741F"/>
                </a:solidFill>
                <a:latin typeface="Calibri" pitchFamily="34" charset="0"/>
                <a:ea typeface="Calibri" pitchFamily="34" charset="-122"/>
                <a:cs typeface="Calibri" pitchFamily="34" charset="-120"/>
              </a:rPr>
              <a:t>THE VIEW</a:t>
            </a:r>
            <a:endParaRPr lang="en-US" sz="1050" dirty="0"/>
          </a:p>
        </p:txBody>
      </p:sp>
      <p:sp>
        <p:nvSpPr>
          <p:cNvPr id="3" name="Text 1"/>
          <p:cNvSpPr txBox="1"/>
          <p:nvPr/>
        </p:nvSpPr>
        <p:spPr>
          <a:xfrm>
            <a:off x="594360" y="658368"/>
            <a:ext cx="10424160" cy="731520"/>
          </a:xfrm>
          <a:prstGeom prst="rect">
            <a:avLst/>
          </a:prstGeom>
          <a:noFill/>
          <a:ln/>
        </p:spPr>
        <p:txBody>
          <a:bodyPr wrap="square" lIns="0" tIns="0" rIns="0" bIns="0" rtlCol="0" anchor="ctr"/>
          <a:lstStyle/>
          <a:p>
            <a:pPr indent="0" marL="0">
              <a:buNone/>
            </a:pPr>
            <a:r>
              <a:rPr lang="en-US" sz="3300" b="1" dirty="0">
                <a:solidFill>
                  <a:srgbClr val="1A1E18"/>
                </a:solidFill>
                <a:latin typeface="Cambria" pitchFamily="34" charset="0"/>
                <a:ea typeface="Cambria" pitchFamily="34" charset="-122"/>
                <a:cs typeface="Cambria" pitchFamily="34" charset="-120"/>
              </a:rPr>
              <a:t>A sacrifice has a shape</a:t>
            </a:r>
            <a:endParaRPr lang="en-US" sz="3300" dirty="0"/>
          </a:p>
        </p:txBody>
      </p:sp>
      <p:pic>
        <p:nvPicPr>
          <p:cNvPr id="4" name="Image 0" descr="/tmp/claude-0/-home-user-BlockChess/1e087d2d-a6f1-50dc-b90d-a89667dace2e/scratchpad/deck/08-full.png">    </p:cNvPr>
          <p:cNvPicPr>
            <a:picLocks noChangeAspect="1"/>
          </p:cNvPicPr>
          <p:nvPr/>
        </p:nvPicPr>
        <p:blipFill>
          <a:blip r:embed="rId1"/>
          <a:stretch>
            <a:fillRect/>
          </a:stretch>
        </p:blipFill>
        <p:spPr>
          <a:xfrm>
            <a:off x="594360" y="1737360"/>
            <a:ext cx="4114800" cy="4114800"/>
          </a:xfrm>
          <a:prstGeom prst="rect">
            <a:avLst/>
          </a:prstGeom>
        </p:spPr>
      </p:pic>
      <p:sp>
        <p:nvSpPr>
          <p:cNvPr id="5" name="Shape 2"/>
          <p:cNvSpPr/>
          <p:nvPr/>
        </p:nvSpPr>
        <p:spPr>
          <a:xfrm>
            <a:off x="594360" y="1737360"/>
            <a:ext cx="4114800" cy="4114800"/>
          </a:xfrm>
          <a:prstGeom prst="rect">
            <a:avLst/>
          </a:prstGeom>
          <a:solidFill>
            <a:srgbClr val="FFFFFF">
              <a:alpha val="0"/>
            </a:srgbClr>
          </a:solidFill>
          <a:ln w="9525">
            <a:solidFill>
              <a:srgbClr val="D8D5CB"/>
            </a:solidFill>
            <a:prstDash val="solid"/>
          </a:ln>
        </p:spPr>
      </p:sp>
      <p:sp>
        <p:nvSpPr>
          <p:cNvPr id="6" name="Text 3"/>
          <p:cNvSpPr txBox="1"/>
          <p:nvPr/>
        </p:nvSpPr>
        <p:spPr>
          <a:xfrm>
            <a:off x="5120640" y="1828800"/>
            <a:ext cx="6446520" cy="2880360"/>
          </a:xfrm>
          <a:prstGeom prst="rect">
            <a:avLst/>
          </a:prstGeom>
          <a:noFill/>
          <a:ln/>
        </p:spPr>
        <p:txBody>
          <a:bodyPr wrap="square" lIns="0" tIns="0" rIns="0" bIns="0" rtlCol="0" anchor="t"/>
          <a:lstStyle/>
          <a:p>
            <a:pPr indent="0" marL="0">
              <a:lnSpc>
                <a:spcPts val="2200"/>
              </a:lnSpc>
              <a:buNone/>
            </a:pPr>
            <a:r>
              <a:rPr lang="en-US" sz="1450" dirty="0">
                <a:solidFill>
                  <a:srgbClr val="2B2F29"/>
                </a:solidFill>
                <a:latin typeface="Calibri" pitchFamily="34" charset="0"/>
                <a:ea typeface="Calibri" pitchFamily="34" charset="-122"/>
                <a:cs typeface="Calibri" pitchFamily="34" charset="-120"/>
              </a:rPr>
              <a:t>Weigh each contact by what the exchange actually costs, and one move on the board dominates everything else. The queen sits deep in enemy ground with the heaviest mark on the sheet — ten pawns of material deliberately hanging.</a:t>
            </a:r>
            <a:endParaRPr lang="en-US" sz="1450" dirty="0"/>
          </a:p>
          <a:p>
            <a:pPr indent="0" marL="0">
              <a:lnSpc>
                <a:spcPts val="2200"/>
              </a:lnSpc>
              <a:buNone/>
            </a:pPr>
            <a:endParaRPr lang="en-US" sz="1450" dirty="0"/>
          </a:p>
          <a:p>
            <a:pPr indent="0" marL="0">
              <a:lnSpc>
                <a:spcPts val="2200"/>
              </a:lnSpc>
              <a:buNone/>
            </a:pPr>
            <a:r>
              <a:rPr lang="en-US" sz="1450" dirty="0">
                <a:solidFill>
                  <a:srgbClr val="2B2F29"/>
                </a:solidFill>
                <a:latin typeface="Calibri" pitchFamily="34" charset="0"/>
                <a:ea typeface="Calibri" pitchFamily="34" charset="-122"/>
                <a:cs typeface="Calibri" pitchFamily="34" charset="-120"/>
              </a:rPr>
              <a:t>And the border bends up and around her. She is on the wrong side of her own frontier. That is what a sacrifice is, drawn: material put over the line, with the line closing behind it.</a:t>
            </a:r>
            <a:endParaRPr lang="en-US" sz="1450" dirty="0"/>
          </a:p>
        </p:txBody>
      </p:sp>
      <p:sp>
        <p:nvSpPr>
          <p:cNvPr id="7" name="Shape 4"/>
          <p:cNvSpPr/>
          <p:nvPr/>
        </p:nvSpPr>
        <p:spPr>
          <a:xfrm>
            <a:off x="5120640" y="4828032"/>
            <a:ext cx="3108960" cy="1024128"/>
          </a:xfrm>
          <a:prstGeom prst="rect">
            <a:avLst/>
          </a:prstGeom>
          <a:solidFill>
            <a:srgbClr val="F4F3EF"/>
          </a:solidFill>
          <a:ln/>
        </p:spPr>
      </p:sp>
      <p:sp>
        <p:nvSpPr>
          <p:cNvPr id="8" name="Text 5"/>
          <p:cNvSpPr txBox="1"/>
          <p:nvPr/>
        </p:nvSpPr>
        <p:spPr>
          <a:xfrm>
            <a:off x="5340096" y="4937760"/>
            <a:ext cx="2743200" cy="457200"/>
          </a:xfrm>
          <a:prstGeom prst="rect">
            <a:avLst/>
          </a:prstGeom>
          <a:noFill/>
          <a:ln/>
        </p:spPr>
        <p:txBody>
          <a:bodyPr wrap="square" lIns="0" tIns="0" rIns="0" bIns="0" rtlCol="0" anchor="ctr"/>
          <a:lstStyle/>
          <a:p>
            <a:pPr indent="0" marL="0">
              <a:buNone/>
            </a:pPr>
            <a:r>
              <a:rPr lang="en-US" sz="2400" b="1" dirty="0">
                <a:solidFill>
                  <a:srgbClr val="A1741F"/>
                </a:solidFill>
                <a:latin typeface="Courier New" pitchFamily="34" charset="0"/>
                <a:ea typeface="Courier New" pitchFamily="34" charset="-122"/>
                <a:cs typeface="Courier New" pitchFamily="34" charset="-120"/>
              </a:rPr>
              <a:t>15.2</a:t>
            </a:r>
            <a:endParaRPr lang="en-US" sz="2400" dirty="0"/>
          </a:p>
        </p:txBody>
      </p:sp>
      <p:sp>
        <p:nvSpPr>
          <p:cNvPr id="9" name="Text 6"/>
          <p:cNvSpPr txBox="1"/>
          <p:nvPr/>
        </p:nvSpPr>
        <p:spPr>
          <a:xfrm>
            <a:off x="5340096" y="5413248"/>
            <a:ext cx="2743200" cy="274320"/>
          </a:xfrm>
          <a:prstGeom prst="rect">
            <a:avLst/>
          </a:prstGeom>
          <a:noFill/>
          <a:ln/>
        </p:spPr>
        <p:txBody>
          <a:bodyPr wrap="square" lIns="0" tIns="0" rIns="0" bIns="0" rtlCol="0" anchor="ctr"/>
          <a:lstStyle/>
          <a:p>
            <a:pPr indent="0" marL="0">
              <a:buNone/>
            </a:pPr>
            <a:r>
              <a:rPr lang="en-US" sz="1050" dirty="0">
                <a:solidFill>
                  <a:srgbClr val="6E7268"/>
                </a:solidFill>
                <a:latin typeface="Calibri" pitchFamily="34" charset="0"/>
                <a:ea typeface="Calibri" pitchFamily="34" charset="-122"/>
                <a:cs typeface="Calibri" pitchFamily="34" charset="-120"/>
              </a:rPr>
              <a:t>tension, in pawns</a:t>
            </a:r>
            <a:endParaRPr lang="en-US" sz="1050" dirty="0"/>
          </a:p>
        </p:txBody>
      </p:sp>
      <p:sp>
        <p:nvSpPr>
          <p:cNvPr id="10" name="Shape 7"/>
          <p:cNvSpPr/>
          <p:nvPr/>
        </p:nvSpPr>
        <p:spPr>
          <a:xfrm>
            <a:off x="8412480" y="4828032"/>
            <a:ext cx="3108960" cy="1024128"/>
          </a:xfrm>
          <a:prstGeom prst="rect">
            <a:avLst/>
          </a:prstGeom>
          <a:solidFill>
            <a:srgbClr val="F4F3EF"/>
          </a:solidFill>
          <a:ln/>
        </p:spPr>
      </p:sp>
      <p:sp>
        <p:nvSpPr>
          <p:cNvPr id="11" name="Text 8"/>
          <p:cNvSpPr txBox="1"/>
          <p:nvPr/>
        </p:nvSpPr>
        <p:spPr>
          <a:xfrm>
            <a:off x="8631936" y="4937760"/>
            <a:ext cx="2743200" cy="457200"/>
          </a:xfrm>
          <a:prstGeom prst="rect">
            <a:avLst/>
          </a:prstGeom>
          <a:noFill/>
          <a:ln/>
        </p:spPr>
        <p:txBody>
          <a:bodyPr wrap="square" lIns="0" tIns="0" rIns="0" bIns="0" rtlCol="0" anchor="ctr"/>
          <a:lstStyle/>
          <a:p>
            <a:pPr indent="0" marL="0">
              <a:buNone/>
            </a:pPr>
            <a:r>
              <a:rPr lang="en-US" sz="2400" b="1" dirty="0">
                <a:solidFill>
                  <a:srgbClr val="AB3B28"/>
                </a:solidFill>
                <a:latin typeface="Courier New" pitchFamily="34" charset="0"/>
                <a:ea typeface="Courier New" pitchFamily="34" charset="-122"/>
                <a:cs typeface="Courier New" pitchFamily="34" charset="-120"/>
              </a:rPr>
              <a:t>10.0</a:t>
            </a:r>
            <a:endParaRPr lang="en-US" sz="2400" dirty="0"/>
          </a:p>
        </p:txBody>
      </p:sp>
      <p:sp>
        <p:nvSpPr>
          <p:cNvPr id="12" name="Text 9"/>
          <p:cNvSpPr txBox="1"/>
          <p:nvPr/>
        </p:nvSpPr>
        <p:spPr>
          <a:xfrm>
            <a:off x="8631936" y="5413248"/>
            <a:ext cx="2743200" cy="274320"/>
          </a:xfrm>
          <a:prstGeom prst="rect">
            <a:avLst/>
          </a:prstGeom>
          <a:noFill/>
          <a:ln/>
        </p:spPr>
        <p:txBody>
          <a:bodyPr wrap="square" lIns="0" tIns="0" rIns="0" bIns="0" rtlCol="0" anchor="ctr"/>
          <a:lstStyle/>
          <a:p>
            <a:pPr indent="0" marL="0">
              <a:buNone/>
            </a:pPr>
            <a:r>
              <a:rPr lang="en-US" sz="1050" dirty="0">
                <a:solidFill>
                  <a:srgbClr val="6E7268"/>
                </a:solidFill>
                <a:latin typeface="Calibri" pitchFamily="34" charset="0"/>
                <a:ea typeface="Calibri" pitchFamily="34" charset="-122"/>
                <a:cs typeface="Calibri" pitchFamily="34" charset="-120"/>
              </a:rPr>
              <a:t>White material at risk</a:t>
            </a:r>
            <a:endParaRPr lang="en-US" sz="1050" dirty="0"/>
          </a:p>
        </p:txBody>
      </p:sp>
      <p:sp>
        <p:nvSpPr>
          <p:cNvPr id="13" name="Text 10"/>
          <p:cNvSpPr txBox="1"/>
          <p:nvPr/>
        </p:nvSpPr>
        <p:spPr>
          <a:xfrm>
            <a:off x="594360" y="5961888"/>
            <a:ext cx="5120640" cy="457200"/>
          </a:xfrm>
          <a:prstGeom prst="rect">
            <a:avLst/>
          </a:prstGeom>
          <a:noFill/>
          <a:ln/>
        </p:spPr>
        <p:txBody>
          <a:bodyPr wrap="square" lIns="0" tIns="0" rIns="0" bIns="0" rtlCol="0" anchor="ctr"/>
          <a:lstStyle/>
          <a:p>
            <a:pPr indent="0" marL="0">
              <a:buNone/>
            </a:pPr>
            <a:r>
              <a:rPr lang="en-US" sz="1050" i="1" dirty="0">
                <a:solidFill>
                  <a:srgbClr val="AB3B28"/>
                </a:solidFill>
                <a:latin typeface="Calibri" pitchFamily="34" charset="0"/>
                <a:ea typeface="Calibri" pitchFamily="34" charset="-122"/>
                <a:cs typeface="Calibri" pitchFamily="34" charset="-120"/>
              </a:rPr>
              <a:t>A stand-in game — Morphy, Paris 1858 — standing where yours will go.</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94360" y="402336"/>
            <a:ext cx="10058400" cy="237744"/>
          </a:xfrm>
          <a:prstGeom prst="rect">
            <a:avLst/>
          </a:prstGeom>
          <a:noFill/>
          <a:ln/>
        </p:spPr>
        <p:txBody>
          <a:bodyPr wrap="square" lIns="0" tIns="0" rIns="0" bIns="0" rtlCol="0" anchor="ctr"/>
          <a:lstStyle/>
          <a:p>
            <a:pPr indent="0" marL="0">
              <a:buNone/>
            </a:pPr>
            <a:r>
              <a:rPr lang="en-US" sz="1050" b="1" spc="240" kern="0" dirty="0">
                <a:solidFill>
                  <a:srgbClr val="A1741F"/>
                </a:solidFill>
                <a:latin typeface="Calibri" pitchFamily="34" charset="0"/>
                <a:ea typeface="Calibri" pitchFamily="34" charset="-122"/>
                <a:cs typeface="Calibri" pitchFamily="34" charset="-120"/>
              </a:rPr>
              <a:t>THE VIEW</a:t>
            </a:r>
            <a:endParaRPr lang="en-US" sz="1050" dirty="0"/>
          </a:p>
        </p:txBody>
      </p:sp>
      <p:sp>
        <p:nvSpPr>
          <p:cNvPr id="3" name="Text 1"/>
          <p:cNvSpPr txBox="1"/>
          <p:nvPr/>
        </p:nvSpPr>
        <p:spPr>
          <a:xfrm>
            <a:off x="594360" y="658368"/>
            <a:ext cx="10424160" cy="731520"/>
          </a:xfrm>
          <a:prstGeom prst="rect">
            <a:avLst/>
          </a:prstGeom>
          <a:noFill/>
          <a:ln/>
        </p:spPr>
        <p:txBody>
          <a:bodyPr wrap="square" lIns="0" tIns="0" rIns="0" bIns="0" rtlCol="0" anchor="ctr"/>
          <a:lstStyle/>
          <a:p>
            <a:pPr indent="0" marL="0">
              <a:buNone/>
            </a:pPr>
            <a:r>
              <a:rPr lang="en-US" sz="3300" b="1" dirty="0">
                <a:solidFill>
                  <a:srgbClr val="1A1E18"/>
                </a:solidFill>
                <a:latin typeface="Cambria" pitchFamily="34" charset="0"/>
                <a:ea typeface="Cambria" pitchFamily="34" charset="-122"/>
                <a:cs typeface="Cambria" pitchFamily="34" charset="-120"/>
              </a:rPr>
              <a:t>Every future is a different border</a:t>
            </a:r>
            <a:endParaRPr lang="en-US" sz="3300" dirty="0"/>
          </a:p>
        </p:txBody>
      </p:sp>
      <p:pic>
        <p:nvPicPr>
          <p:cNvPr id="4" name="Image 0" descr="/tmp/claude-0/-home-user-BlockChess/1e087d2d-a6f1-50dc-b90d-a89667dace2e/scratchpad/deck/11-tree.png">    </p:cNvPr>
          <p:cNvPicPr>
            <a:picLocks noChangeAspect="1"/>
          </p:cNvPicPr>
          <p:nvPr/>
        </p:nvPicPr>
        <p:blipFill>
          <a:blip r:embed="rId1"/>
          <a:stretch>
            <a:fillRect/>
          </a:stretch>
        </p:blipFill>
        <p:spPr>
          <a:xfrm>
            <a:off x="594360" y="1920240"/>
            <a:ext cx="6858000" cy="2395728"/>
          </a:xfrm>
          <a:prstGeom prst="rect">
            <a:avLst/>
          </a:prstGeom>
        </p:spPr>
      </p:pic>
      <p:sp>
        <p:nvSpPr>
          <p:cNvPr id="5" name="Text 2"/>
          <p:cNvSpPr txBox="1"/>
          <p:nvPr/>
        </p:nvSpPr>
        <p:spPr>
          <a:xfrm>
            <a:off x="7772400" y="1920240"/>
            <a:ext cx="3840480" cy="3291840"/>
          </a:xfrm>
          <a:prstGeom prst="rect">
            <a:avLst/>
          </a:prstGeom>
          <a:noFill/>
          <a:ln/>
        </p:spPr>
        <p:txBody>
          <a:bodyPr wrap="square" lIns="0" tIns="0" rIns="0" bIns="0" rtlCol="0" anchor="t"/>
          <a:lstStyle/>
          <a:p>
            <a:pPr indent="0" marL="0">
              <a:lnSpc>
                <a:spcPts val="2200"/>
              </a:lnSpc>
              <a:buNone/>
            </a:pPr>
            <a:r>
              <a:rPr lang="en-US" sz="1350" dirty="0">
                <a:solidFill>
                  <a:srgbClr val="2B2F29"/>
                </a:solidFill>
                <a:latin typeface="Calibri" pitchFamily="34" charset="0"/>
                <a:ea typeface="Calibri" pitchFamily="34" charset="-122"/>
                <a:cs typeface="Calibri" pitchFamily="34" charset="-120"/>
              </a:rPr>
              <a:t>Push the position forward and the frontier moves with it. Each branch here is a candidate continuation, and each one redraws the line somewhere else.</a:t>
            </a:r>
            <a:endParaRPr lang="en-US" sz="1350" dirty="0"/>
          </a:p>
          <a:p>
            <a:pPr indent="0" marL="0">
              <a:lnSpc>
                <a:spcPts val="2200"/>
              </a:lnSpc>
              <a:buNone/>
            </a:pPr>
            <a:endParaRPr lang="en-US" sz="1350" dirty="0"/>
          </a:p>
          <a:p>
            <a:pPr indent="0" marL="0">
              <a:lnSpc>
                <a:spcPts val="2200"/>
              </a:lnSpc>
              <a:buNone/>
            </a:pPr>
            <a:r>
              <a:rPr lang="en-US" sz="1350" dirty="0">
                <a:solidFill>
                  <a:srgbClr val="2B2F29"/>
                </a:solidFill>
                <a:latin typeface="Calibri" pitchFamily="34" charset="0"/>
                <a:ea typeface="Calibri" pitchFamily="34" charset="-122"/>
                <a:cs typeface="Calibri" pitchFamily="34" charset="-120"/>
              </a:rPr>
              <a:t>Search, in these terms, is just the question of which border you would rather be defending.</a:t>
            </a:r>
            <a:endParaRPr lang="en-US" sz="1350" dirty="0"/>
          </a:p>
        </p:txBody>
      </p:sp>
      <p:sp>
        <p:nvSpPr>
          <p:cNvPr id="6" name="Text 3"/>
          <p:cNvSpPr txBox="1"/>
          <p:nvPr/>
        </p:nvSpPr>
        <p:spPr>
          <a:xfrm>
            <a:off x="594360" y="4526280"/>
            <a:ext cx="6858000" cy="457200"/>
          </a:xfrm>
          <a:prstGeom prst="rect">
            <a:avLst/>
          </a:prstGeom>
          <a:noFill/>
          <a:ln/>
        </p:spPr>
        <p:txBody>
          <a:bodyPr wrap="square" lIns="0" tIns="0" rIns="0" bIns="0" rtlCol="0" anchor="ctr"/>
          <a:lstStyle/>
          <a:p>
            <a:pPr indent="0" marL="0">
              <a:buNone/>
            </a:pPr>
            <a:r>
              <a:rPr lang="en-US" sz="1050" i="1" dirty="0">
                <a:solidFill>
                  <a:srgbClr val="6E7268"/>
                </a:solidFill>
                <a:latin typeface="Calibri" pitchFamily="34" charset="0"/>
                <a:ea typeface="Calibri" pitchFamily="34" charset="-122"/>
                <a:cs typeface="Calibri" pitchFamily="34" charset="-120"/>
              </a:rPr>
              <a:t>Twenty candidate futures, scored and laid out left to right.</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94360" y="402336"/>
            <a:ext cx="10058400" cy="237744"/>
          </a:xfrm>
          <a:prstGeom prst="rect">
            <a:avLst/>
          </a:prstGeom>
          <a:noFill/>
          <a:ln/>
        </p:spPr>
        <p:txBody>
          <a:bodyPr wrap="square" lIns="0" tIns="0" rIns="0" bIns="0" rtlCol="0" anchor="ctr"/>
          <a:lstStyle/>
          <a:p>
            <a:pPr indent="0" marL="0">
              <a:buNone/>
            </a:pPr>
            <a:r>
              <a:rPr lang="en-US" sz="1050" b="1" spc="240" kern="0" dirty="0">
                <a:solidFill>
                  <a:srgbClr val="AB3B28"/>
                </a:solidFill>
                <a:latin typeface="Calibri" pitchFamily="34" charset="0"/>
                <a:ea typeface="Calibri" pitchFamily="34" charset="-122"/>
                <a:cs typeface="Calibri" pitchFamily="34" charset="-120"/>
              </a:rPr>
              <a:t>THE GAP</a:t>
            </a:r>
            <a:endParaRPr lang="en-US" sz="1050" dirty="0"/>
          </a:p>
        </p:txBody>
      </p:sp>
      <p:sp>
        <p:nvSpPr>
          <p:cNvPr id="3" name="Text 1"/>
          <p:cNvSpPr txBox="1"/>
          <p:nvPr/>
        </p:nvSpPr>
        <p:spPr>
          <a:xfrm>
            <a:off x="594360" y="658368"/>
            <a:ext cx="10424160" cy="731520"/>
          </a:xfrm>
          <a:prstGeom prst="rect">
            <a:avLst/>
          </a:prstGeom>
          <a:noFill/>
          <a:ln/>
        </p:spPr>
        <p:txBody>
          <a:bodyPr wrap="square" lIns="0" tIns="0" rIns="0" bIns="0" rtlCol="0" anchor="ctr"/>
          <a:lstStyle/>
          <a:p>
            <a:pPr indent="0" marL="0">
              <a:buNone/>
            </a:pPr>
            <a:r>
              <a:rPr lang="en-US" sz="3300" b="1" dirty="0">
                <a:solidFill>
                  <a:srgbClr val="1A1E18"/>
                </a:solidFill>
                <a:latin typeface="Cambria" pitchFamily="34" charset="0"/>
                <a:ea typeface="Cambria" pitchFamily="34" charset="-122"/>
                <a:cs typeface="Cambria" pitchFamily="34" charset="-120"/>
              </a:rPr>
              <a:t>The one thing the page does not contain</a:t>
            </a:r>
            <a:endParaRPr lang="en-US" sz="3300" dirty="0"/>
          </a:p>
        </p:txBody>
      </p:sp>
      <p:sp>
        <p:nvSpPr>
          <p:cNvPr id="4" name="Text 2"/>
          <p:cNvSpPr txBox="1"/>
          <p:nvPr/>
        </p:nvSpPr>
        <p:spPr>
          <a:xfrm>
            <a:off x="594360" y="1463040"/>
            <a:ext cx="10424160" cy="640080"/>
          </a:xfrm>
          <a:prstGeom prst="rect">
            <a:avLst/>
          </a:prstGeom>
          <a:noFill/>
          <a:ln/>
        </p:spPr>
        <p:txBody>
          <a:bodyPr wrap="square" lIns="0" tIns="0" rIns="0" bIns="0" rtlCol="0" anchor="ctr"/>
          <a:lstStyle/>
          <a:p>
            <a:pPr indent="0" marL="0">
              <a:buNone/>
            </a:pPr>
            <a:r>
              <a:rPr lang="en-US" sz="2600" i="1" dirty="0">
                <a:solidFill>
                  <a:srgbClr val="AB3B28"/>
                </a:solidFill>
                <a:latin typeface="Cambria" pitchFamily="34" charset="0"/>
                <a:ea typeface="Cambria" pitchFamily="34" charset="-122"/>
                <a:cs typeface="Cambria" pitchFamily="34" charset="-120"/>
              </a:rPr>
              <a:t>Your game.</a:t>
            </a:r>
            <a:endParaRPr lang="en-US" sz="2600" dirty="0"/>
          </a:p>
        </p:txBody>
      </p:sp>
      <p:sp>
        <p:nvSpPr>
          <p:cNvPr id="5" name="Text 3"/>
          <p:cNvSpPr txBox="1"/>
          <p:nvPr/>
        </p:nvSpPr>
        <p:spPr>
          <a:xfrm>
            <a:off x="594360" y="2286000"/>
            <a:ext cx="5486400" cy="3291840"/>
          </a:xfrm>
          <a:prstGeom prst="rect">
            <a:avLst/>
          </a:prstGeom>
          <a:noFill/>
          <a:ln/>
        </p:spPr>
        <p:txBody>
          <a:bodyPr wrap="square" lIns="0" tIns="0" rIns="0" bIns="0" rtlCol="0" anchor="t"/>
          <a:lstStyle/>
          <a:p>
            <a:pPr indent="0" marL="0">
              <a:lnSpc>
                <a:spcPts val="2200"/>
              </a:lnSpc>
              <a:buNone/>
            </a:pPr>
            <a:r>
              <a:rPr lang="en-US" sz="1450" dirty="0">
                <a:solidFill>
                  <a:srgbClr val="2B2F29"/>
                </a:solidFill>
                <a:latin typeface="Calibri" pitchFamily="34" charset="0"/>
                <a:ea typeface="Calibri" pitchFamily="34" charset="-122"/>
                <a:cs typeface="Calibri" pitchFamily="34" charset="-120"/>
              </a:rPr>
              <a:t>Every board in this deck is a stand-in. The notes describe a method in detail and never once record the moves it was being applied to — so the atlas is currently running on famous games instead of yours.</a:t>
            </a:r>
            <a:endParaRPr lang="en-US" sz="1450" dirty="0"/>
          </a:p>
          <a:p>
            <a:pPr indent="0" marL="0">
              <a:lnSpc>
                <a:spcPts val="2200"/>
              </a:lnSpc>
              <a:buNone/>
            </a:pPr>
            <a:endParaRPr lang="en-US" sz="1450" dirty="0"/>
          </a:p>
          <a:p>
            <a:pPr indent="0" marL="0">
              <a:lnSpc>
                <a:spcPts val="2200"/>
              </a:lnSpc>
              <a:buNone/>
            </a:pPr>
            <a:r>
              <a:rPr lang="en-US" sz="1450" dirty="0">
                <a:solidFill>
                  <a:srgbClr val="2B2F29"/>
                </a:solidFill>
                <a:latin typeface="Calibri" pitchFamily="34" charset="0"/>
                <a:ea typeface="Calibri" pitchFamily="34" charset="-122"/>
                <a:cs typeface="Calibri" pitchFamily="34" charset="-120"/>
              </a:rPr>
              <a:t>That is a one-step fix, and it is the step only you can take.</a:t>
            </a:r>
            <a:endParaRPr lang="en-US" sz="1450" dirty="0"/>
          </a:p>
        </p:txBody>
      </p:sp>
      <p:sp>
        <p:nvSpPr>
          <p:cNvPr id="6" name="Shape 4"/>
          <p:cNvSpPr/>
          <p:nvPr/>
        </p:nvSpPr>
        <p:spPr>
          <a:xfrm>
            <a:off x="6355080" y="2221992"/>
            <a:ext cx="365760" cy="365760"/>
          </a:xfrm>
          <a:prstGeom prst="ellipse">
            <a:avLst/>
          </a:prstGeom>
          <a:solidFill>
            <a:srgbClr val="A1741F"/>
          </a:solidFill>
          <a:ln/>
        </p:spPr>
      </p:sp>
      <p:sp>
        <p:nvSpPr>
          <p:cNvPr id="7" name="Text 5"/>
          <p:cNvSpPr txBox="1"/>
          <p:nvPr/>
        </p:nvSpPr>
        <p:spPr>
          <a:xfrm>
            <a:off x="6355080" y="2221992"/>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8" name="Text 6"/>
          <p:cNvSpPr txBox="1"/>
          <p:nvPr/>
        </p:nvSpPr>
        <p:spPr>
          <a:xfrm>
            <a:off x="6903720" y="2203704"/>
            <a:ext cx="4663440" cy="274320"/>
          </a:xfrm>
          <a:prstGeom prst="rect">
            <a:avLst/>
          </a:prstGeom>
          <a:noFill/>
          <a:ln/>
        </p:spPr>
        <p:txBody>
          <a:bodyPr wrap="square" lIns="0" tIns="0" rIns="0" bIns="0" rtlCol="0" anchor="ctr"/>
          <a:lstStyle/>
          <a:p>
            <a:pPr indent="0" marL="0">
              <a:buNone/>
            </a:pPr>
            <a:r>
              <a:rPr lang="en-US" sz="1350" b="1" dirty="0">
                <a:solidFill>
                  <a:srgbClr val="1A1E18"/>
                </a:solidFill>
                <a:latin typeface="Calibri" pitchFamily="34" charset="0"/>
                <a:ea typeface="Calibri" pitchFamily="34" charset="-122"/>
                <a:cs typeface="Calibri" pitchFamily="34" charset="-120"/>
              </a:rPr>
              <a:t>Moves</a:t>
            </a:r>
            <a:endParaRPr lang="en-US" sz="1350" dirty="0"/>
          </a:p>
        </p:txBody>
      </p:sp>
      <p:sp>
        <p:nvSpPr>
          <p:cNvPr id="9" name="Text 7"/>
          <p:cNvSpPr txBox="1"/>
          <p:nvPr/>
        </p:nvSpPr>
        <p:spPr>
          <a:xfrm>
            <a:off x="6903720" y="2532888"/>
            <a:ext cx="4663440" cy="777240"/>
          </a:xfrm>
          <a:prstGeom prst="rect">
            <a:avLst/>
          </a:prstGeom>
          <a:noFill/>
          <a:ln/>
        </p:spPr>
        <p:txBody>
          <a:bodyPr wrap="square" lIns="0" tIns="0" rIns="0" bIns="0" rtlCol="0" anchor="ctr"/>
          <a:lstStyle/>
          <a:p>
            <a:pPr indent="0" marL="0">
              <a:lnSpc>
                <a:spcPts val="1500"/>
              </a:lnSpc>
              <a:buNone/>
            </a:pPr>
            <a:r>
              <a:rPr lang="en-US" sz="1150" dirty="0">
                <a:solidFill>
                  <a:srgbClr val="4A4E47"/>
                </a:solidFill>
                <a:latin typeface="Calibri" pitchFamily="34" charset="0"/>
                <a:ea typeface="Calibri" pitchFamily="34" charset="-122"/>
                <a:cs typeface="Calibri" pitchFamily="34" charset="-120"/>
              </a:rPr>
              <a:t>A PGN, a lichess or chess.com link, or a scrappy move list — 1.e4 e5 2.Nf3 …</a:t>
            </a:r>
            <a:endParaRPr lang="en-US" sz="1150" dirty="0"/>
          </a:p>
        </p:txBody>
      </p:sp>
      <p:sp>
        <p:nvSpPr>
          <p:cNvPr id="10" name="Shape 8"/>
          <p:cNvSpPr/>
          <p:nvPr/>
        </p:nvSpPr>
        <p:spPr>
          <a:xfrm>
            <a:off x="6355080" y="3547872"/>
            <a:ext cx="365760" cy="365760"/>
          </a:xfrm>
          <a:prstGeom prst="ellipse">
            <a:avLst/>
          </a:prstGeom>
          <a:solidFill>
            <a:srgbClr val="A1741F"/>
          </a:solidFill>
          <a:ln/>
        </p:spPr>
      </p:sp>
      <p:sp>
        <p:nvSpPr>
          <p:cNvPr id="11" name="Text 9"/>
          <p:cNvSpPr txBox="1"/>
          <p:nvPr/>
        </p:nvSpPr>
        <p:spPr>
          <a:xfrm>
            <a:off x="6355080" y="3547872"/>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2" name="Text 10"/>
          <p:cNvSpPr txBox="1"/>
          <p:nvPr/>
        </p:nvSpPr>
        <p:spPr>
          <a:xfrm>
            <a:off x="6903720" y="3529584"/>
            <a:ext cx="4663440" cy="274320"/>
          </a:xfrm>
          <a:prstGeom prst="rect">
            <a:avLst/>
          </a:prstGeom>
          <a:noFill/>
          <a:ln/>
        </p:spPr>
        <p:txBody>
          <a:bodyPr wrap="square" lIns="0" tIns="0" rIns="0" bIns="0" rtlCol="0" anchor="ctr"/>
          <a:lstStyle/>
          <a:p>
            <a:pPr indent="0" marL="0">
              <a:buNone/>
            </a:pPr>
            <a:r>
              <a:rPr lang="en-US" sz="1350" b="1" dirty="0">
                <a:solidFill>
                  <a:srgbClr val="1A1E18"/>
                </a:solidFill>
                <a:latin typeface="Calibri" pitchFamily="34" charset="0"/>
                <a:ea typeface="Calibri" pitchFamily="34" charset="-122"/>
                <a:cs typeface="Calibri" pitchFamily="34" charset="-120"/>
              </a:rPr>
              <a:t>Or a photo</a:t>
            </a:r>
            <a:endParaRPr lang="en-US" sz="1350" dirty="0"/>
          </a:p>
        </p:txBody>
      </p:sp>
      <p:sp>
        <p:nvSpPr>
          <p:cNvPr id="13" name="Text 11"/>
          <p:cNvSpPr txBox="1"/>
          <p:nvPr/>
        </p:nvSpPr>
        <p:spPr>
          <a:xfrm>
            <a:off x="6903720" y="3858768"/>
            <a:ext cx="4663440" cy="777240"/>
          </a:xfrm>
          <a:prstGeom prst="rect">
            <a:avLst/>
          </a:prstGeom>
          <a:noFill/>
          <a:ln/>
        </p:spPr>
        <p:txBody>
          <a:bodyPr wrap="square" lIns="0" tIns="0" rIns="0" bIns="0" rtlCol="0" anchor="ctr"/>
          <a:lstStyle/>
          <a:p>
            <a:pPr indent="0" marL="0">
              <a:lnSpc>
                <a:spcPts val="1500"/>
              </a:lnSpc>
              <a:buNone/>
            </a:pPr>
            <a:r>
              <a:rPr lang="en-US" sz="1150" dirty="0">
                <a:solidFill>
                  <a:srgbClr val="4A4E47"/>
                </a:solidFill>
                <a:latin typeface="Calibri" pitchFamily="34" charset="0"/>
                <a:ea typeface="Calibri" pitchFamily="34" charset="-122"/>
                <a:cs typeface="Calibri" pitchFamily="34" charset="-120"/>
              </a:rPr>
              <a:t>A scoresheet works. So does anything with the sequence on it.</a:t>
            </a:r>
            <a:endParaRPr lang="en-US" sz="1150" dirty="0"/>
          </a:p>
        </p:txBody>
      </p:sp>
      <p:sp>
        <p:nvSpPr>
          <p:cNvPr id="14" name="Shape 12"/>
          <p:cNvSpPr/>
          <p:nvPr/>
        </p:nvSpPr>
        <p:spPr>
          <a:xfrm>
            <a:off x="6355080" y="4873752"/>
            <a:ext cx="365760" cy="365760"/>
          </a:xfrm>
          <a:prstGeom prst="ellipse">
            <a:avLst/>
          </a:prstGeom>
          <a:solidFill>
            <a:srgbClr val="AB3B28"/>
          </a:solidFill>
          <a:ln/>
        </p:spPr>
      </p:sp>
      <p:sp>
        <p:nvSpPr>
          <p:cNvPr id="15" name="Text 13"/>
          <p:cNvSpPr txBox="1"/>
          <p:nvPr/>
        </p:nvSpPr>
        <p:spPr>
          <a:xfrm>
            <a:off x="6355080" y="4873752"/>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6" name="Text 14"/>
          <p:cNvSpPr txBox="1"/>
          <p:nvPr/>
        </p:nvSpPr>
        <p:spPr>
          <a:xfrm>
            <a:off x="6903720" y="4855464"/>
            <a:ext cx="4663440" cy="274320"/>
          </a:xfrm>
          <a:prstGeom prst="rect">
            <a:avLst/>
          </a:prstGeom>
          <a:noFill/>
          <a:ln/>
        </p:spPr>
        <p:txBody>
          <a:bodyPr wrap="square" lIns="0" tIns="0" rIns="0" bIns="0" rtlCol="0" anchor="ctr"/>
          <a:lstStyle/>
          <a:p>
            <a:pPr indent="0" marL="0">
              <a:buNone/>
            </a:pPr>
            <a:r>
              <a:rPr lang="en-US" sz="1350" b="1" dirty="0">
                <a:solidFill>
                  <a:srgbClr val="1A1E18"/>
                </a:solidFill>
                <a:latin typeface="Calibri" pitchFamily="34" charset="0"/>
                <a:ea typeface="Calibri" pitchFamily="34" charset="-122"/>
                <a:cs typeface="Calibri" pitchFamily="34" charset="-120"/>
              </a:rPr>
              <a:t>Your borders</a:t>
            </a:r>
            <a:endParaRPr lang="en-US" sz="1350" dirty="0"/>
          </a:p>
        </p:txBody>
      </p:sp>
      <p:sp>
        <p:nvSpPr>
          <p:cNvPr id="17" name="Text 15"/>
          <p:cNvSpPr txBox="1"/>
          <p:nvPr/>
        </p:nvSpPr>
        <p:spPr>
          <a:xfrm>
            <a:off x="6903720" y="5184648"/>
            <a:ext cx="4663440" cy="777240"/>
          </a:xfrm>
          <a:prstGeom prst="rect">
            <a:avLst/>
          </a:prstGeom>
          <a:noFill/>
          <a:ln/>
        </p:spPr>
        <p:txBody>
          <a:bodyPr wrap="square" lIns="0" tIns="0" rIns="0" bIns="0" rtlCol="0" anchor="ctr"/>
          <a:lstStyle/>
          <a:p>
            <a:pPr indent="0" marL="0">
              <a:lnSpc>
                <a:spcPts val="1500"/>
              </a:lnSpc>
              <a:buNone/>
            </a:pPr>
            <a:r>
              <a:rPr lang="en-US" sz="1150" dirty="0">
                <a:solidFill>
                  <a:srgbClr val="4A4E47"/>
                </a:solidFill>
                <a:latin typeface="Calibri" pitchFamily="34" charset="0"/>
                <a:ea typeface="Calibri" pitchFamily="34" charset="-122"/>
                <a:cs typeface="Calibri" pitchFamily="34" charset="-120"/>
              </a:rPr>
              <a:t>The squares where you felt the edge was, and when. That layer cannot be derived — it has to come from you.</a:t>
            </a:r>
            <a:endParaRPr lang="en-US" sz="11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A1E18"/>
        </a:solidFill>
      </p:bgPr>
    </p:bg>
    <p:spTree>
      <p:nvGrpSpPr>
        <p:cNvPr id="1" name=""/>
        <p:cNvGrpSpPr/>
        <p:nvPr/>
      </p:nvGrpSpPr>
      <p:grpSpPr>
        <a:xfrm>
          <a:off x="0" y="0"/>
          <a:ext cx="0" cy="0"/>
          <a:chOff x="0" y="0"/>
          <a:chExt cx="0" cy="0"/>
        </a:xfrm>
      </p:grpSpPr>
      <p:pic>
        <p:nvPicPr>
          <p:cNvPr id="2" name="Image 0" descr="/tmp/claude-0/-home-user-BlockChess/1e087d2d-a6f1-50dc-b90d-a89667dace2e/scratchpad/deck/06-contour.png">    </p:cNvPr>
          <p:cNvPicPr>
            <a:picLocks noChangeAspect="1"/>
          </p:cNvPicPr>
          <p:nvPr/>
        </p:nvPicPr>
        <p:blipFill>
          <a:blip r:embed="rId1">
            <a:alphaModFix amt="90000"/>
          </a:blip>
          <a:stretch>
            <a:fillRect/>
          </a:stretch>
        </p:blipFill>
        <p:spPr>
          <a:xfrm>
            <a:off x="7040880" y="868680"/>
            <a:ext cx="4572000" cy="4572000"/>
          </a:xfrm>
          <a:prstGeom prst="rect">
            <a:avLst/>
          </a:prstGeom>
        </p:spPr>
      </p:pic>
      <p:sp>
        <p:nvSpPr>
          <p:cNvPr id="3" name="Shape 0"/>
          <p:cNvSpPr/>
          <p:nvPr/>
        </p:nvSpPr>
        <p:spPr>
          <a:xfrm>
            <a:off x="7040880" y="868680"/>
            <a:ext cx="4572000" cy="4572000"/>
          </a:xfrm>
          <a:prstGeom prst="rect">
            <a:avLst/>
          </a:prstGeom>
          <a:solidFill>
            <a:srgbClr val="FFFFFF">
              <a:alpha val="0"/>
            </a:srgbClr>
          </a:solidFill>
          <a:ln w="9525">
            <a:solidFill>
              <a:srgbClr val="D8D5CB"/>
            </a:solidFill>
            <a:prstDash val="solid"/>
          </a:ln>
        </p:spPr>
      </p:sp>
      <p:sp>
        <p:nvSpPr>
          <p:cNvPr id="4" name="Text 1"/>
          <p:cNvSpPr txBox="1"/>
          <p:nvPr/>
        </p:nvSpPr>
        <p:spPr>
          <a:xfrm>
            <a:off x="685800" y="1280160"/>
            <a:ext cx="5486400" cy="274320"/>
          </a:xfrm>
          <a:prstGeom prst="rect">
            <a:avLst/>
          </a:prstGeom>
          <a:noFill/>
          <a:ln/>
        </p:spPr>
        <p:txBody>
          <a:bodyPr wrap="square" lIns="0" tIns="0" rIns="0" bIns="0" rtlCol="0" anchor="ctr"/>
          <a:lstStyle/>
          <a:p>
            <a:pPr indent="0" marL="0">
              <a:buNone/>
            </a:pPr>
            <a:r>
              <a:rPr lang="en-US" sz="1100" b="1" spc="300" kern="0" dirty="0">
                <a:solidFill>
                  <a:srgbClr val="C8912F"/>
                </a:solidFill>
                <a:latin typeface="Calibri" pitchFamily="34" charset="0"/>
                <a:ea typeface="Calibri" pitchFamily="34" charset="-122"/>
                <a:cs typeface="Calibri" pitchFamily="34" charset="-120"/>
              </a:rPr>
              <a:t>WHERE IT LANDS</a:t>
            </a:r>
            <a:endParaRPr lang="en-US" sz="1100" dirty="0"/>
          </a:p>
        </p:txBody>
      </p:sp>
      <p:sp>
        <p:nvSpPr>
          <p:cNvPr id="5" name="Text 2"/>
          <p:cNvSpPr txBox="1"/>
          <p:nvPr/>
        </p:nvSpPr>
        <p:spPr>
          <a:xfrm>
            <a:off x="658368" y="1737360"/>
            <a:ext cx="5943600" cy="1371600"/>
          </a:xfrm>
          <a:prstGeom prst="rect">
            <a:avLst/>
          </a:prstGeom>
          <a:noFill/>
          <a:ln/>
        </p:spPr>
        <p:txBody>
          <a:bodyPr wrap="square" lIns="0" tIns="0" rIns="0" bIns="0" rtlCol="0" anchor="ctr"/>
          <a:lstStyle/>
          <a:p>
            <a:pPr indent="0" marL="0">
              <a:lnSpc>
                <a:spcPts val="4600"/>
              </a:lnSpc>
              <a:buNone/>
            </a:pPr>
            <a:r>
              <a:rPr lang="en-US" sz="4000" b="1" dirty="0">
                <a:solidFill>
                  <a:srgbClr val="FFFFFF"/>
                </a:solidFill>
                <a:latin typeface="Cambria" pitchFamily="34" charset="0"/>
                <a:ea typeface="Cambria" pitchFamily="34" charset="-122"/>
                <a:cs typeface="Cambria" pitchFamily="34" charset="-120"/>
              </a:rPr>
              <a:t>You were drawing a map.</a:t>
            </a:r>
            <a:endParaRPr lang="en-US" sz="4000" dirty="0"/>
          </a:p>
        </p:txBody>
      </p:sp>
      <p:sp>
        <p:nvSpPr>
          <p:cNvPr id="6" name="Text 3"/>
          <p:cNvSpPr txBox="1"/>
          <p:nvPr/>
        </p:nvSpPr>
        <p:spPr>
          <a:xfrm>
            <a:off x="685800" y="3291840"/>
            <a:ext cx="5943600" cy="2377440"/>
          </a:xfrm>
          <a:prstGeom prst="rect">
            <a:avLst/>
          </a:prstGeom>
          <a:noFill/>
          <a:ln/>
        </p:spPr>
        <p:txBody>
          <a:bodyPr wrap="square" lIns="0" tIns="0" rIns="0" bIns="0" rtlCol="0" anchor="ctr"/>
          <a:lstStyle/>
          <a:p>
            <a:pPr indent="0" marL="0">
              <a:lnSpc>
                <a:spcPts val="2100"/>
              </a:lnSpc>
              <a:buNone/>
            </a:pPr>
            <a:r>
              <a:rPr lang="en-US" sz="1400" dirty="0">
                <a:solidFill>
                  <a:srgbClr val="C9CCC2"/>
                </a:solidFill>
                <a:latin typeface="Calibri" pitchFamily="34" charset="0"/>
                <a:ea typeface="Calibri" pitchFamily="34" charset="-122"/>
                <a:cs typeface="Calibri" pitchFamily="34" charset="-120"/>
              </a:rPr>
              <a:t>The page works through pieces, arrows, cover, vision, an alphabet, and a string of bits — and every one of those steps is a way of asking the same question. Where does my board end and theirs begin?</a:t>
            </a:r>
            <a:endParaRPr lang="en-US" sz="1400" dirty="0"/>
          </a:p>
          <a:p>
            <a:pPr indent="0" marL="0">
              <a:lnSpc>
                <a:spcPts val="2100"/>
              </a:lnSpc>
              <a:buNone/>
            </a:pPr>
            <a:endParaRPr lang="en-US" sz="1400" dirty="0"/>
          </a:p>
          <a:p>
            <a:pPr indent="0" marL="0">
              <a:lnSpc>
                <a:spcPts val="2100"/>
              </a:lnSpc>
              <a:buNone/>
            </a:pPr>
            <a:r>
              <a:rPr lang="en-US" sz="1400" dirty="0">
                <a:solidFill>
                  <a:srgbClr val="C9CCC2"/>
                </a:solidFill>
                <a:latin typeface="Calibri" pitchFamily="34" charset="0"/>
                <a:ea typeface="Calibri" pitchFamily="34" charset="-122"/>
                <a:cs typeface="Calibri" pitchFamily="34" charset="-120"/>
              </a:rPr>
              <a:t>The machine can now draw that line for any position. The one it cannot draw is the line you felt while you were playing. Put the two on top of each other and the difference is the interesting part.</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Reading the Page</dc:title>
  <dc:subject>PptxGenJS Presentation</dc:subject>
  <dc:creator>Chess Frontier Atlas</dc:creator>
  <cp:lastModifiedBy>Chess Frontier Atlas</cp:lastModifiedBy>
  <cp:revision>1</cp:revision>
  <dcterms:created xsi:type="dcterms:W3CDTF">2026-09-09T11:12:33Z</dcterms:created>
  <dcterms:modified xsi:type="dcterms:W3CDTF">2026-09-09T11:12:33Z</dcterms:modified>
</cp:coreProperties>
</file>